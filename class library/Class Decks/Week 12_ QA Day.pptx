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12192000"/>
  <p:embeddedFontLst>
    <p:embeddedFont>
      <p:font typeface="Play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5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8.png"/><Relationship Id="rId5" Type="http://schemas.openxmlformats.org/officeDocument/2006/relationships/image" Target="../media/image28.png"/><Relationship Id="rId6" Type="http://schemas.openxmlformats.org/officeDocument/2006/relationships/image" Target="../media/image7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6081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62000" y="952500"/>
            <a:ext cx="5715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Week 12: QA Day</a:t>
            </a:r>
            <a:endParaRPr b="1" sz="54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62000" y="2000250"/>
            <a:ext cx="2095500" cy="381000"/>
          </a:xfrm>
          <a:prstGeom prst="roundRect">
            <a:avLst>
              <a:gd fmla="val 2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62000" y="20002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SPRINT 4 KICKOFF</a:t>
            </a:r>
            <a:endParaRPr b="1" sz="1400">
              <a:solidFill>
                <a:srgbClr val="0F172A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62000" y="2667000"/>
            <a:ext cx="476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2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QA + Refactor + Professional Polish</a:t>
            </a:r>
            <a:endParaRPr b="0" sz="222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762000" y="3429000"/>
            <a:ext cx="20955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Week 12 QA Day / 1/28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62000" y="3810000"/>
            <a:ext cx="47625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Today's goal:</a:t>
            </a:r>
            <a:endParaRPr b="1" sz="1700">
              <a:solidFill>
                <a:srgbClr val="F59E0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357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Prove the app </a:t>
            </a:r>
            <a:r>
              <a:rPr b="1" lang="en-US" sz="357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is real.</a:t>
            </a:r>
            <a:endParaRPr b="1" sz="3570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871700" cy="61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The Big Shift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4"/>
          <p:cNvCxnSpPr/>
          <p:nvPr/>
        </p:nvCxnSpPr>
        <p:spPr>
          <a:xfrm>
            <a:off x="502920" y="932688"/>
            <a:ext cx="192030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4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The Big Shift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" name="Google Shape;34;p4"/>
          <p:cNvCxnSpPr/>
          <p:nvPr/>
        </p:nvCxnSpPr>
        <p:spPr>
          <a:xfrm>
            <a:off x="502920" y="932688"/>
            <a:ext cx="192030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5" name="Google Shape;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8475" y="1181100"/>
            <a:ext cx="4023300" cy="12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6858000" y="1188720"/>
            <a:ext cx="76200" cy="1238400"/>
          </a:xfrm>
          <a:prstGeom prst="rect">
            <a:avLst/>
          </a:prstGeom>
          <a:solidFill>
            <a:srgbClr val="DC2626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048500" y="1333500"/>
            <a:ext cx="40233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messy feature chaos</a:t>
            </a:r>
            <a:endParaRPr b="1" sz="18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048500" y="1666875"/>
            <a:ext cx="381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8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new buttons</a:t>
            </a:r>
            <a:endParaRPr b="0" sz="1008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8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unclear scope</a:t>
            </a:r>
            <a:endParaRPr b="0" sz="1008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8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no proof</a:t>
            </a:r>
            <a:endParaRPr b="0" sz="1008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8475" y="3038475"/>
            <a:ext cx="40101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6858000" y="3048000"/>
            <a:ext cx="76200" cy="1238400"/>
          </a:xfrm>
          <a:prstGeom prst="rect">
            <a:avLst/>
          </a:prstGeom>
          <a:solidFill>
            <a:srgbClr val="16A34A"/>
          </a:solidFill>
          <a:ln cap="flat" cmpd="sng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048500" y="3190875"/>
            <a:ext cx="40233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reliable sprint work</a:t>
            </a:r>
            <a:endParaRPr b="1" sz="18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048500" y="3524250"/>
            <a:ext cx="381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tests / issues</a:t>
            </a:r>
            <a:endParaRPr b="0" sz="13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owners / evidence</a:t>
            </a:r>
            <a:endParaRPr b="0" sz="13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Week 12 QA Day / 2/28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4"/>
          <p:cNvGrpSpPr/>
          <p:nvPr/>
        </p:nvGrpSpPr>
        <p:grpSpPr>
          <a:xfrm>
            <a:off x="685800" y="1524000"/>
            <a:ext cx="5696100" cy="4191000"/>
            <a:chOff x="685800" y="1524000"/>
            <a:chExt cx="5696100" cy="4191000"/>
          </a:xfrm>
        </p:grpSpPr>
        <p:grpSp>
          <p:nvGrpSpPr>
            <p:cNvPr id="45" name="Google Shape;45;p4"/>
            <p:cNvGrpSpPr/>
            <p:nvPr/>
          </p:nvGrpSpPr>
          <p:grpSpPr>
            <a:xfrm>
              <a:off x="685800" y="1524000"/>
              <a:ext cx="4572000" cy="4191000"/>
              <a:chOff x="685800" y="1524000"/>
              <a:chExt cx="4572000" cy="4191000"/>
            </a:xfrm>
          </p:grpSpPr>
          <p:sp>
            <p:nvSpPr>
              <p:cNvPr id="46" name="Google Shape;46;p4"/>
              <p:cNvSpPr txBox="1"/>
              <p:nvPr/>
            </p:nvSpPr>
            <p:spPr>
              <a:xfrm>
                <a:off x="685800" y="1524000"/>
                <a:ext cx="45720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Build less.</a:t>
                </a:r>
                <a:endParaRPr b="1" sz="42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16A34A"/>
                    </a:solidFill>
                    <a:latin typeface="Play"/>
                    <a:ea typeface="Play"/>
                    <a:cs typeface="Play"/>
                    <a:sym typeface="Play"/>
                  </a:rPr>
                  <a:t>Verify more.</a:t>
                </a:r>
                <a:endParaRPr b="1" sz="4200">
                  <a:solidFill>
                    <a:srgbClr val="16A34A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-US" sz="4200">
                    <a:solidFill>
                      <a:srgbClr val="F59E0B"/>
                    </a:solidFill>
                    <a:latin typeface="Play"/>
                    <a:ea typeface="Play"/>
                    <a:cs typeface="Play"/>
                    <a:sym typeface="Play"/>
                  </a:rPr>
                  <a:t>Fix what matters.</a:t>
                </a:r>
                <a:endParaRPr b="1" sz="42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47" name="Google Shape;47;p4"/>
              <p:cNvSpPr txBox="1"/>
              <p:nvPr/>
            </p:nvSpPr>
            <p:spPr>
              <a:xfrm>
                <a:off x="685800" y="457200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Sprint 4 is </a:t>
                </a:r>
                <a:r>
                  <a:rPr b="1" lang="en-US" sz="1800">
                    <a:solidFill>
                      <a:srgbClr val="EF4444"/>
                    </a:solidFill>
                    <a:latin typeface="Arial"/>
                    <a:ea typeface="Arial"/>
                    <a:cs typeface="Arial"/>
                    <a:sym typeface="Arial"/>
                  </a:rPr>
                  <a:t>not</a:t>
                </a:r>
                <a:r>
                  <a:rPr b="0" lang="en-US" sz="18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 feature chaos.</a:t>
                </a:r>
                <a:endParaRPr b="0" sz="1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Sprint 4 is </a:t>
                </a:r>
                <a:r>
                  <a:rPr b="1" lang="en-US" sz="1800">
                    <a:solidFill>
                      <a:srgbClr val="16A34A"/>
                    </a:solidFill>
                    <a:latin typeface="Arial"/>
                    <a:ea typeface="Arial"/>
                    <a:cs typeface="Arial"/>
                    <a:sym typeface="Arial"/>
                  </a:rPr>
                  <a:t>reliability</a:t>
                </a:r>
                <a:r>
                  <a:rPr b="0" lang="en-US" sz="180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b="0" sz="1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>
              <a:off x="5676900" y="1695450"/>
              <a:ext cx="705000" cy="1733700"/>
              <a:chOff x="5676900" y="1695450"/>
              <a:chExt cx="705000" cy="1733700"/>
            </a:xfrm>
          </p:grpSpPr>
          <p:pic>
            <p:nvPicPr>
              <p:cNvPr id="49" name="Google Shape;49;p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715000" y="1719263"/>
                <a:ext cx="666900" cy="1676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" name="Google Shape;50;p4"/>
              <p:cNvSpPr/>
              <p:nvPr/>
            </p:nvSpPr>
            <p:spPr>
              <a:xfrm>
                <a:off x="5676900" y="169545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1" name="Google Shape;51;p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286500" y="3333750"/>
                <a:ext cx="95400" cy="95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6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Why This Week Matters</a:t>
            </a:r>
            <a:endParaRPr b="1" sz="306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58" name="Google Shape;58;p5"/>
          <p:cNvCxnSpPr/>
          <p:nvPr/>
        </p:nvCxnSpPr>
        <p:spPr>
          <a:xfrm rot="10800000">
            <a:off x="1395633" y="39975"/>
            <a:ext cx="0" cy="19203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9" name="Google Shape;59;p5"/>
          <p:cNvGrpSpPr/>
          <p:nvPr/>
        </p:nvGrpSpPr>
        <p:grpSpPr>
          <a:xfrm>
            <a:off x="495300" y="1704975"/>
            <a:ext cx="4967400" cy="3724275"/>
            <a:chOff x="495300" y="1704975"/>
            <a:chExt cx="4967400" cy="3724275"/>
          </a:xfrm>
        </p:grpSpPr>
        <p:pic>
          <p:nvPicPr>
            <p:cNvPr id="60" name="Google Shape;60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1704975"/>
              <a:ext cx="4967400" cy="34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5"/>
            <p:cNvSpPr txBox="1"/>
            <p:nvPr/>
          </p:nvSpPr>
          <p:spPr>
            <a:xfrm>
              <a:off x="762000" y="2000250"/>
              <a:ext cx="4381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59E0B"/>
                  </a:solidFill>
                  <a:latin typeface="Arial"/>
                  <a:ea typeface="Arial"/>
                  <a:cs typeface="Arial"/>
                  <a:sym typeface="Arial"/>
                </a:rPr>
                <a:t>Week 10 Audit Findings:</a:t>
              </a:r>
              <a:endParaRPr b="1" sz="22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lots of activity</a:t>
              </a:r>
              <a:endParaRPr b="0" sz="18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weak traceability</a:t>
              </a:r>
              <a:endParaRPr b="0" sz="1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too much feature expansion</a:t>
              </a:r>
              <a:endParaRPr b="0" sz="1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unclear bug evidence</a:t>
              </a:r>
              <a:endParaRPr b="0" sz="1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missing AI-use notes</a:t>
              </a:r>
              <a:endParaRPr b="0" sz="1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457200" rtl="0" algn="l">
                <a:spcBef>
                  <a:spcPts val="1125"/>
                </a:spcBef>
                <a:spcAft>
                  <a:spcPts val="1125"/>
                </a:spcAft>
                <a:buClr>
                  <a:srgbClr val="CBD5E1"/>
                </a:buClr>
                <a:buSzPts val="1800"/>
                <a:buFont typeface="Arial"/>
                <a:buChar char="●"/>
              </a:pPr>
              <a:r>
                <a:rPr b="0" lang="en-US" sz="18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inconsistent receipts</a:t>
              </a:r>
              <a:endParaRPr b="0" sz="1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5"/>
          <p:cNvGrpSpPr/>
          <p:nvPr/>
        </p:nvGrpSpPr>
        <p:grpSpPr>
          <a:xfrm>
            <a:off x="502920" y="5810250"/>
            <a:ext cx="11186100" cy="571500"/>
            <a:chOff x="502920" y="5810250"/>
            <a:chExt cx="11186100" cy="571500"/>
          </a:xfrm>
        </p:grpSpPr>
        <p:sp>
          <p:nvSpPr>
            <p:cNvPr id="63" name="Google Shape;63;p5"/>
            <p:cNvSpPr/>
            <p:nvPr/>
          </p:nvSpPr>
          <p:spPr>
            <a:xfrm>
              <a:off x="502920" y="5810250"/>
              <a:ext cx="11186100" cy="571500"/>
            </a:xfrm>
            <a:prstGeom prst="roundRect">
              <a:avLst>
                <a:gd fmla="val 13333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5"/>
            <p:cNvSpPr txBox="1"/>
            <p:nvPr/>
          </p:nvSpPr>
          <p:spPr>
            <a:xfrm>
              <a:off x="502920" y="5810250"/>
              <a:ext cx="11186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172A"/>
                  </a:solidFill>
                  <a:latin typeface="Play"/>
                  <a:ea typeface="Play"/>
                  <a:cs typeface="Play"/>
                  <a:sym typeface="Play"/>
                </a:rPr>
                <a:t>Activity is not the same as verified progress.</a:t>
              </a:r>
              <a:endParaRPr b="1" sz="22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5" name="Google Shape;65;p5"/>
          <p:cNvSpPr/>
          <p:nvPr/>
        </p:nvSpPr>
        <p:spPr>
          <a:xfrm>
            <a:off x="6191250" y="5048250"/>
            <a:ext cx="3048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667500" y="4667250"/>
            <a:ext cx="3048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143750" y="4286250"/>
            <a:ext cx="30480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620000" y="3905250"/>
            <a:ext cx="304800" cy="152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096250" y="3524250"/>
            <a:ext cx="304800" cy="190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572500" y="3143250"/>
            <a:ext cx="30480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048750" y="2762250"/>
            <a:ext cx="304800" cy="2667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9525000" y="2381250"/>
            <a:ext cx="304800" cy="304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0001250" y="2000250"/>
            <a:ext cx="304800" cy="3429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1725" y="752475"/>
            <a:ext cx="5507400" cy="1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6191250" y="762000"/>
            <a:ext cx="95400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381750" y="8572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Evidence Missing</a:t>
            </a:r>
            <a:endParaRPr b="1" sz="18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381750" y="1238250"/>
            <a:ext cx="400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Activity is not verified progress. Audit shows significant gaps in documentation.</a:t>
            </a:r>
            <a:endParaRPr b="0" sz="13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Week 12 QA Day / 3/28</a:t>
            </a:r>
            <a:endParaRPr b="0" sz="75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6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Today’s Goal</a:t>
            </a:r>
            <a:endParaRPr b="1" sz="306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85" name="Google Shape;85;p6"/>
          <p:cNvCxnSpPr/>
          <p:nvPr/>
        </p:nvCxnSpPr>
        <p:spPr>
          <a:xfrm rot="10800000">
            <a:off x="1463070" y="-27462"/>
            <a:ext cx="0" cy="19203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/>
          <p:nvPr/>
        </p:nvSpPr>
        <p:spPr>
          <a:xfrm>
            <a:off x="502920" y="1333500"/>
            <a:ext cx="11186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By the end of class, every team has:</a:t>
            </a:r>
            <a:endParaRPr b="0" sz="24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2276475"/>
            <a:ext cx="3448200" cy="1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1095375" y="27051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476375" y="2571750"/>
            <a:ext cx="2667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QA checklist</a:t>
            </a:r>
            <a:endParaRPr b="1" sz="18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0" name="Google Shape;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1975" y="2276475"/>
            <a:ext cx="3448200" cy="1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4619625" y="27051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5000625" y="2571750"/>
            <a:ext cx="2667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tested MVP flow</a:t>
            </a:r>
            <a:endParaRPr b="1" sz="18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3" name="Google Shape;9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6225" y="2276475"/>
            <a:ext cx="3448200" cy="1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8143875" y="27051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8524875" y="2571750"/>
            <a:ext cx="2667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bug severity list</a:t>
            </a:r>
            <a:endParaRPr b="1" sz="18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6" name="Google Shape;9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3609975"/>
            <a:ext cx="3448200" cy="1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1095375" y="40386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476375" y="3905250"/>
            <a:ext cx="2667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GitHub Issues for major bugs</a:t>
            </a:r>
            <a:endParaRPr b="1" sz="18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1975" y="3609975"/>
            <a:ext cx="3448200" cy="1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4619625" y="40386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000625" y="3905250"/>
            <a:ext cx="2667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evidence links</a:t>
            </a:r>
            <a:endParaRPr b="1" sz="18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02" name="Google Shape;10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6225" y="3609975"/>
            <a:ext cx="3448200" cy="1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8143875" y="40386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524875" y="3905250"/>
            <a:ext cx="2667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next actions</a:t>
            </a:r>
            <a:endParaRPr b="1" sz="18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11480" y="6477000"/>
            <a:ext cx="2743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4/28</a:t>
            </a:r>
            <a:endParaRPr b="0" sz="100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Weekly Progress Presentations</a:t>
            </a:r>
            <a:endParaRPr b="1" sz="30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3" name="Google Shape;113;p7"/>
          <p:cNvCxnSpPr/>
          <p:nvPr/>
        </p:nvCxnSpPr>
        <p:spPr>
          <a:xfrm>
            <a:off x="502920" y="952500"/>
            <a:ext cx="19050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4" name="Google Shape;114;p7"/>
          <p:cNvGrpSpPr/>
          <p:nvPr/>
        </p:nvGrpSpPr>
        <p:grpSpPr>
          <a:xfrm>
            <a:off x="502920" y="1524000"/>
            <a:ext cx="2000100" cy="1333500"/>
            <a:chOff x="502920" y="1524000"/>
            <a:chExt cx="2000100" cy="1333500"/>
          </a:xfrm>
        </p:grpSpPr>
        <p:sp>
          <p:nvSpPr>
            <p:cNvPr id="115" name="Google Shape;115;p7"/>
            <p:cNvSpPr/>
            <p:nvPr/>
          </p:nvSpPr>
          <p:spPr>
            <a:xfrm>
              <a:off x="502920" y="1524000"/>
              <a:ext cx="2000100" cy="13335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7"/>
            <p:cNvSpPr txBox="1"/>
            <p:nvPr/>
          </p:nvSpPr>
          <p:spPr>
            <a:xfrm>
              <a:off x="619125" y="16192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1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7" name="Google Shape;117;p7"/>
            <p:cNvSpPr txBox="1"/>
            <p:nvPr/>
          </p:nvSpPr>
          <p:spPr>
            <a:xfrm>
              <a:off x="619125" y="1905000"/>
              <a:ext cx="1762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What changed?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18" name="Google Shape;118;p7"/>
          <p:cNvGrpSpPr/>
          <p:nvPr/>
        </p:nvGrpSpPr>
        <p:grpSpPr>
          <a:xfrm>
            <a:off x="2788920" y="1524000"/>
            <a:ext cx="2000100" cy="1333500"/>
            <a:chOff x="2788920" y="1524000"/>
            <a:chExt cx="2000100" cy="1333500"/>
          </a:xfrm>
        </p:grpSpPr>
        <p:sp>
          <p:nvSpPr>
            <p:cNvPr id="119" name="Google Shape;119;p7"/>
            <p:cNvSpPr/>
            <p:nvPr/>
          </p:nvSpPr>
          <p:spPr>
            <a:xfrm>
              <a:off x="2788920" y="1524000"/>
              <a:ext cx="2000100" cy="13335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 txBox="1"/>
            <p:nvPr/>
          </p:nvSpPr>
          <p:spPr>
            <a:xfrm>
              <a:off x="2905125" y="16192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2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1" name="Google Shape;121;p7"/>
            <p:cNvSpPr txBox="1"/>
            <p:nvPr/>
          </p:nvSpPr>
          <p:spPr>
            <a:xfrm>
              <a:off x="2905125" y="1905000"/>
              <a:ext cx="1762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Show improvement.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22" name="Google Shape;122;p7"/>
          <p:cNvGrpSpPr/>
          <p:nvPr/>
        </p:nvGrpSpPr>
        <p:grpSpPr>
          <a:xfrm>
            <a:off x="5074920" y="1524000"/>
            <a:ext cx="2000100" cy="1333500"/>
            <a:chOff x="5074920" y="1524000"/>
            <a:chExt cx="2000100" cy="1333500"/>
          </a:xfrm>
        </p:grpSpPr>
        <p:sp>
          <p:nvSpPr>
            <p:cNvPr id="123" name="Google Shape;123;p7"/>
            <p:cNvSpPr/>
            <p:nvPr/>
          </p:nvSpPr>
          <p:spPr>
            <a:xfrm>
              <a:off x="5074920" y="1524000"/>
              <a:ext cx="2000100" cy="13335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7"/>
            <p:cNvSpPr txBox="1"/>
            <p:nvPr/>
          </p:nvSpPr>
          <p:spPr>
            <a:xfrm>
              <a:off x="5191125" y="16192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3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5" name="Google Shape;125;p7"/>
            <p:cNvSpPr txBox="1"/>
            <p:nvPr/>
          </p:nvSpPr>
          <p:spPr>
            <a:xfrm>
              <a:off x="5191125" y="1905000"/>
              <a:ext cx="1762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Show evidence.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26" name="Google Shape;126;p7"/>
          <p:cNvGrpSpPr/>
          <p:nvPr/>
        </p:nvGrpSpPr>
        <p:grpSpPr>
          <a:xfrm>
            <a:off x="7360920" y="1524000"/>
            <a:ext cx="2000100" cy="1333500"/>
            <a:chOff x="7360920" y="1524000"/>
            <a:chExt cx="2000100" cy="1333500"/>
          </a:xfrm>
        </p:grpSpPr>
        <p:sp>
          <p:nvSpPr>
            <p:cNvPr id="127" name="Google Shape;127;p7"/>
            <p:cNvSpPr/>
            <p:nvPr/>
          </p:nvSpPr>
          <p:spPr>
            <a:xfrm>
              <a:off x="7360920" y="1524000"/>
              <a:ext cx="2000100" cy="13335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7"/>
            <p:cNvSpPr txBox="1"/>
            <p:nvPr/>
          </p:nvSpPr>
          <p:spPr>
            <a:xfrm>
              <a:off x="7477125" y="16192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4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9" name="Google Shape;129;p7"/>
            <p:cNvSpPr txBox="1"/>
            <p:nvPr/>
          </p:nvSpPr>
          <p:spPr>
            <a:xfrm>
              <a:off x="7477125" y="1905000"/>
              <a:ext cx="1762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Random member explains.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30" name="Google Shape;130;p7"/>
          <p:cNvGrpSpPr/>
          <p:nvPr/>
        </p:nvGrpSpPr>
        <p:grpSpPr>
          <a:xfrm>
            <a:off x="9646920" y="1524000"/>
            <a:ext cx="2000400" cy="1333500"/>
            <a:chOff x="9646920" y="1524000"/>
            <a:chExt cx="2000400" cy="1333500"/>
          </a:xfrm>
        </p:grpSpPr>
        <p:sp>
          <p:nvSpPr>
            <p:cNvPr id="131" name="Google Shape;131;p7"/>
            <p:cNvSpPr/>
            <p:nvPr/>
          </p:nvSpPr>
          <p:spPr>
            <a:xfrm>
              <a:off x="9646920" y="1524000"/>
              <a:ext cx="2000400" cy="13335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7"/>
            <p:cNvSpPr txBox="1"/>
            <p:nvPr/>
          </p:nvSpPr>
          <p:spPr>
            <a:xfrm>
              <a:off x="9763125" y="16192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5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3" name="Google Shape;133;p7"/>
            <p:cNvSpPr txBox="1"/>
            <p:nvPr/>
          </p:nvSpPr>
          <p:spPr>
            <a:xfrm>
              <a:off x="9763125" y="1905000"/>
              <a:ext cx="1762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Ask / blocker.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34" name="Google Shape;134;p7"/>
          <p:cNvGrpSpPr/>
          <p:nvPr/>
        </p:nvGrpSpPr>
        <p:grpSpPr>
          <a:xfrm>
            <a:off x="502920" y="3238500"/>
            <a:ext cx="11186100" cy="2286000"/>
            <a:chOff x="502920" y="3238500"/>
            <a:chExt cx="11186100" cy="2286000"/>
          </a:xfrm>
        </p:grpSpPr>
        <p:sp>
          <p:nvSpPr>
            <p:cNvPr id="135" name="Google Shape;135;p7"/>
            <p:cNvSpPr/>
            <p:nvPr/>
          </p:nvSpPr>
          <p:spPr>
            <a:xfrm>
              <a:off x="502920" y="3238500"/>
              <a:ext cx="11186100" cy="2286000"/>
            </a:xfrm>
            <a:prstGeom prst="roundRect">
              <a:avLst>
                <a:gd fmla="val 3333" name="adj"/>
              </a:avLst>
            </a:prstGeom>
            <a:solidFill>
              <a:srgbClr val="1E293B">
                <a:alpha val="50000"/>
              </a:srgbClr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7"/>
            <p:cNvSpPr txBox="1"/>
            <p:nvPr/>
          </p:nvSpPr>
          <p:spPr>
            <a:xfrm>
              <a:off x="788670" y="3524250"/>
              <a:ext cx="10614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Requirements &amp; Expectations</a:t>
              </a:r>
              <a:endParaRPr b="1" sz="24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F8FAFC"/>
                </a:buClr>
                <a:buSzPts val="1800"/>
                <a:buFont typeface="Play"/>
                <a:buChar char="●"/>
              </a:pPr>
              <a:r>
                <a:rPr b="0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5 minutes per team</a:t>
              </a:r>
              <a:endParaRPr b="0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8FAFC"/>
                </a:buClr>
                <a:buSzPts val="1800"/>
                <a:buFont typeface="Play"/>
                <a:buChar char="●"/>
              </a:pPr>
              <a:r>
                <a:rPr b="0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No slides required.</a:t>
              </a:r>
              <a:endParaRPr b="0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8FAFC"/>
                </a:buClr>
                <a:buSzPts val="1800"/>
                <a:buFont typeface="Play"/>
                <a:buChar char="●"/>
              </a:pPr>
              <a:r>
                <a:rPr b="0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Show the app, repo, board, PRs, Issues, tests, and docs.</a:t>
              </a:r>
              <a:endParaRPr b="0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37" name="Google Shape;137;p7"/>
          <p:cNvGrpSpPr/>
          <p:nvPr/>
        </p:nvGrpSpPr>
        <p:grpSpPr>
          <a:xfrm>
            <a:off x="502920" y="5810250"/>
            <a:ext cx="11186100" cy="571500"/>
            <a:chOff x="502920" y="5810250"/>
            <a:chExt cx="11186100" cy="571500"/>
          </a:xfrm>
        </p:grpSpPr>
        <p:sp>
          <p:nvSpPr>
            <p:cNvPr id="138" name="Google Shape;138;p7"/>
            <p:cNvSpPr/>
            <p:nvPr/>
          </p:nvSpPr>
          <p:spPr>
            <a:xfrm>
              <a:off x="502920" y="5810250"/>
              <a:ext cx="11186100" cy="571500"/>
            </a:xfrm>
            <a:prstGeom prst="roundRect">
              <a:avLst>
                <a:gd fmla="val 13333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7"/>
            <p:cNvSpPr txBox="1"/>
            <p:nvPr/>
          </p:nvSpPr>
          <p:spPr>
            <a:xfrm>
              <a:off x="502920" y="5810250"/>
              <a:ext cx="11186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F172A"/>
                  </a:solidFill>
                  <a:latin typeface="Play"/>
                  <a:ea typeface="Play"/>
                  <a:cs typeface="Play"/>
                  <a:sym typeface="Play"/>
                </a:rPr>
                <a:t>Evidence-based progress is the standard.</a:t>
              </a:r>
              <a:endParaRPr b="1" sz="20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140" name="Google Shape;140;p7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Week 12 QA Day / 5/28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8"/>
          <p:cNvGrpSpPr/>
          <p:nvPr/>
        </p:nvGrpSpPr>
        <p:grpSpPr>
          <a:xfrm>
            <a:off x="502920" y="292417"/>
            <a:ext cx="10698600" cy="650558"/>
            <a:chOff x="502920" y="292418"/>
            <a:chExt cx="10698600" cy="650558"/>
          </a:xfrm>
        </p:grpSpPr>
        <p:sp>
          <p:nvSpPr>
            <p:cNvPr id="147" name="Google Shape;147;p8"/>
            <p:cNvSpPr txBox="1"/>
            <p:nvPr/>
          </p:nvSpPr>
          <p:spPr>
            <a:xfrm>
              <a:off x="502920" y="292418"/>
              <a:ext cx="1069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Presentation Question</a:t>
              </a:r>
              <a:endParaRPr b="1" sz="3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502920" y="904875"/>
              <a:ext cx="19050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8"/>
          <p:cNvGrpSpPr/>
          <p:nvPr/>
        </p:nvGrpSpPr>
        <p:grpSpPr>
          <a:xfrm>
            <a:off x="502920" y="1333500"/>
            <a:ext cx="11186100" cy="3810000"/>
            <a:chOff x="502920" y="1333500"/>
            <a:chExt cx="11186100" cy="3810000"/>
          </a:xfrm>
        </p:grpSpPr>
        <p:pic>
          <p:nvPicPr>
            <p:cNvPr id="150" name="Google Shape;150;p8"/>
            <p:cNvPicPr preferRelativeResize="0"/>
            <p:nvPr/>
          </p:nvPicPr>
          <p:blipFill rotWithShape="1">
            <a:blip r:embed="rId3">
              <a:alphaModFix/>
            </a:blip>
            <a:srcRect b="19741" l="0" r="0" t="19741"/>
            <a:stretch/>
          </p:blipFill>
          <p:spPr>
            <a:xfrm>
              <a:off x="502920" y="1333500"/>
              <a:ext cx="11186100" cy="3810000"/>
            </a:xfrm>
            <a:prstGeom prst="roundRect">
              <a:avLst>
                <a:gd fmla="val 4000" name="adj"/>
              </a:avLst>
            </a:prstGeom>
            <a:noFill/>
            <a:ln>
              <a:noFill/>
            </a:ln>
          </p:spPr>
        </p:pic>
        <p:sp>
          <p:nvSpPr>
            <p:cNvPr id="151" name="Google Shape;151;p8"/>
            <p:cNvSpPr/>
            <p:nvPr/>
          </p:nvSpPr>
          <p:spPr>
            <a:xfrm>
              <a:off x="502920" y="1333500"/>
              <a:ext cx="11186100" cy="3810000"/>
            </a:xfrm>
            <a:prstGeom prst="roundRect">
              <a:avLst>
                <a:gd fmla="val 4000" name="adj"/>
              </a:avLst>
            </a:prstGeom>
            <a:solidFill>
              <a:srgbClr val="0F172A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 txBox="1"/>
            <p:nvPr/>
          </p:nvSpPr>
          <p:spPr>
            <a:xfrm>
              <a:off x="762000" y="1333500"/>
              <a:ext cx="10668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What would break your final demo right now?</a:t>
              </a:r>
              <a:endParaRPr b="1" sz="3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0" i="1" lang="en-US" sz="22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That is today’s most important question.</a:t>
              </a:r>
              <a:endParaRPr b="0" i="1" sz="22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153" name="Google Shape;153;p8"/>
          <p:cNvSpPr/>
          <p:nvPr/>
        </p:nvSpPr>
        <p:spPr>
          <a:xfrm>
            <a:off x="502920" y="5334000"/>
            <a:ext cx="11186100" cy="762000"/>
          </a:xfrm>
          <a:prstGeom prst="roundRect">
            <a:avLst>
              <a:gd fmla="val 15000" name="adj"/>
            </a:avLst>
          </a:prstGeom>
          <a:solidFill>
            <a:srgbClr val="1E293B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693420" y="5334000"/>
            <a:ext cx="1080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Identify the single point of failure before it happens in front of the stakeholders.</a:t>
            </a:r>
            <a:endParaRPr sz="1400">
              <a:solidFill>
                <a:srgbClr val="CBD5E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strike="noStrike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6/28</a:t>
            </a:r>
            <a:endParaRPr b="0" i="0" sz="750" u="none" strike="noStrike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QA Is Not “Click Around”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02920" y="904875"/>
            <a:ext cx="1905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QA Is Not “Click Around”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9"/>
          <p:cNvGrpSpPr/>
          <p:nvPr/>
        </p:nvGrpSpPr>
        <p:grpSpPr>
          <a:xfrm>
            <a:off x="502920" y="1524000"/>
            <a:ext cx="5048400" cy="4000500"/>
            <a:chOff x="502920" y="1524000"/>
            <a:chExt cx="5048400" cy="4000500"/>
          </a:xfrm>
        </p:grpSpPr>
        <p:sp>
          <p:nvSpPr>
            <p:cNvPr id="165" name="Google Shape;165;p9"/>
            <p:cNvSpPr/>
            <p:nvPr/>
          </p:nvSpPr>
          <p:spPr>
            <a:xfrm>
              <a:off x="502920" y="1524000"/>
              <a:ext cx="5048400" cy="4000500"/>
            </a:xfrm>
            <a:prstGeom prst="roundRect">
              <a:avLst>
                <a:gd fmla="val 2857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502920" y="1524000"/>
              <a:ext cx="95400" cy="4000500"/>
            </a:xfrm>
            <a:prstGeom prst="roundRect">
              <a:avLst>
                <a:gd fmla="val 2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9"/>
            <p:cNvSpPr txBox="1"/>
            <p:nvPr/>
          </p:nvSpPr>
          <p:spPr>
            <a:xfrm>
              <a:off x="876300" y="171450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Weak QA</a:t>
              </a:r>
              <a:endParaRPr b="1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68" name="Google Shape;168;p9"/>
            <p:cNvSpPr txBox="1"/>
            <p:nvPr/>
          </p:nvSpPr>
          <p:spPr>
            <a:xfrm>
              <a:off x="876300" y="2286000"/>
              <a:ext cx="4381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“It works.”</a:t>
              </a:r>
              <a:endParaRPr b="0" i="1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“We tested it.”</a:t>
              </a:r>
              <a:endParaRPr b="0" i="1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“No bugs.”</a:t>
              </a:r>
              <a:endParaRPr b="0" i="1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no links</a:t>
              </a:r>
              <a:endParaRPr b="0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876300" y="4895850"/>
              <a:ext cx="1143000" cy="3429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9"/>
            <p:cNvSpPr txBox="1"/>
            <p:nvPr/>
          </p:nvSpPr>
          <p:spPr>
            <a:xfrm>
              <a:off x="876300" y="489585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VAGUE</a:t>
              </a:r>
              <a:endParaRPr b="1" sz="1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71" name="Google Shape;171;p9"/>
          <p:cNvGrpSpPr/>
          <p:nvPr/>
        </p:nvGrpSpPr>
        <p:grpSpPr>
          <a:xfrm>
            <a:off x="6640830" y="1524000"/>
            <a:ext cx="5048100" cy="4000500"/>
            <a:chOff x="6640830" y="1524000"/>
            <a:chExt cx="5048100" cy="4000500"/>
          </a:xfrm>
        </p:grpSpPr>
        <p:sp>
          <p:nvSpPr>
            <p:cNvPr id="172" name="Google Shape;172;p9"/>
            <p:cNvSpPr/>
            <p:nvPr/>
          </p:nvSpPr>
          <p:spPr>
            <a:xfrm>
              <a:off x="6640830" y="1524000"/>
              <a:ext cx="5048100" cy="4000500"/>
            </a:xfrm>
            <a:prstGeom prst="roundRect">
              <a:avLst>
                <a:gd fmla="val 2857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6640830" y="1524000"/>
              <a:ext cx="95400" cy="4000500"/>
            </a:xfrm>
            <a:prstGeom prst="roundRect">
              <a:avLst>
                <a:gd fmla="val 2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9"/>
            <p:cNvSpPr txBox="1"/>
            <p:nvPr/>
          </p:nvSpPr>
          <p:spPr>
            <a:xfrm>
              <a:off x="7019925" y="171450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Strong QA</a:t>
              </a:r>
              <a:endParaRPr b="1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75" name="Google Shape;175;p9"/>
            <p:cNvSpPr txBox="1"/>
            <p:nvPr/>
          </p:nvSpPr>
          <p:spPr>
            <a:xfrm>
              <a:off x="7019925" y="2286000"/>
              <a:ext cx="4381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BD5E1"/>
                </a:buClr>
                <a:buSzPts val="1400"/>
                <a:buFont typeface="Play"/>
                <a:buChar char="●"/>
              </a:pPr>
              <a:r>
                <a:rPr b="0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checklist</a:t>
              </a:r>
              <a:endParaRPr b="0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400"/>
                <a:buFont typeface="Play"/>
                <a:buChar char="●"/>
              </a:pPr>
              <a:r>
                <a:rPr b="0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pass/fail results</a:t>
              </a:r>
              <a:endParaRPr b="0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400"/>
                <a:buFont typeface="Play"/>
                <a:buChar char="●"/>
              </a:pPr>
              <a:r>
                <a:rPr b="0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screenshots</a:t>
              </a:r>
              <a:endParaRPr b="0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400"/>
                <a:buFont typeface="Play"/>
                <a:buChar char="●"/>
              </a:pPr>
              <a:r>
                <a:rPr b="0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issues</a:t>
              </a:r>
              <a:endParaRPr b="0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400"/>
                <a:buFont typeface="Play"/>
                <a:buChar char="●"/>
              </a:pPr>
              <a:r>
                <a:rPr b="0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owners</a:t>
              </a:r>
              <a:endParaRPr b="0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7019925" y="4895850"/>
              <a:ext cx="1143000" cy="3429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9"/>
            <p:cNvSpPr txBox="1"/>
            <p:nvPr/>
          </p:nvSpPr>
          <p:spPr>
            <a:xfrm>
              <a:off x="7019925" y="489585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EVIDENCE</a:t>
              </a:r>
              <a:endParaRPr b="1" sz="1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178" name="Google Shape;178;p9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7/28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/>
        </p:nvSpPr>
        <p:spPr>
          <a:xfrm>
            <a:off x="502920" y="904875"/>
            <a:ext cx="1905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502920" y="292608"/>
            <a:ext cx="10698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QA Day Workflow</a:t>
            </a:r>
            <a:endParaRPr b="1" sz="30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86" name="Google Shape;186;p10"/>
          <p:cNvGrpSpPr/>
          <p:nvPr/>
        </p:nvGrpSpPr>
        <p:grpSpPr>
          <a:xfrm>
            <a:off x="502920" y="1524000"/>
            <a:ext cx="1619100" cy="2857500"/>
            <a:chOff x="502920" y="1524000"/>
            <a:chExt cx="1619100" cy="2857500"/>
          </a:xfrm>
        </p:grpSpPr>
        <p:sp>
          <p:nvSpPr>
            <p:cNvPr id="187" name="Google Shape;187;p10"/>
            <p:cNvSpPr/>
            <p:nvPr/>
          </p:nvSpPr>
          <p:spPr>
            <a:xfrm>
              <a:off x="502920" y="1524000"/>
              <a:ext cx="1619100" cy="2857500"/>
            </a:xfrm>
            <a:prstGeom prst="roundRect">
              <a:avLst>
                <a:gd fmla="val 7058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0"/>
            <p:cNvSpPr/>
            <p:nvPr/>
          </p:nvSpPr>
          <p:spPr>
            <a:xfrm>
              <a:off x="502920" y="1524000"/>
              <a:ext cx="16191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0"/>
            <p:cNvSpPr txBox="1"/>
            <p:nvPr/>
          </p:nvSpPr>
          <p:spPr>
            <a:xfrm>
              <a:off x="502920" y="1571625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01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0" name="Google Shape;190;p10"/>
            <p:cNvSpPr txBox="1"/>
            <p:nvPr/>
          </p:nvSpPr>
          <p:spPr>
            <a:xfrm>
              <a:off x="619125" y="2000250"/>
              <a:ext cx="13812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Write core MVP flow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91" name="Google Shape;191;p10"/>
          <p:cNvGrpSpPr/>
          <p:nvPr/>
        </p:nvGrpSpPr>
        <p:grpSpPr>
          <a:xfrm>
            <a:off x="2407920" y="1524000"/>
            <a:ext cx="1619100" cy="2857500"/>
            <a:chOff x="2407920" y="1524000"/>
            <a:chExt cx="1619100" cy="2857500"/>
          </a:xfrm>
        </p:grpSpPr>
        <p:sp>
          <p:nvSpPr>
            <p:cNvPr id="192" name="Google Shape;192;p10"/>
            <p:cNvSpPr/>
            <p:nvPr/>
          </p:nvSpPr>
          <p:spPr>
            <a:xfrm>
              <a:off x="2407920" y="1524000"/>
              <a:ext cx="1619100" cy="2857500"/>
            </a:xfrm>
            <a:prstGeom prst="roundRect">
              <a:avLst>
                <a:gd fmla="val 7058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2407920" y="1524000"/>
              <a:ext cx="16191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0"/>
            <p:cNvSpPr txBox="1"/>
            <p:nvPr/>
          </p:nvSpPr>
          <p:spPr>
            <a:xfrm>
              <a:off x="2407920" y="1571625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02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5" name="Google Shape;195;p10"/>
            <p:cNvSpPr txBox="1"/>
            <p:nvPr/>
          </p:nvSpPr>
          <p:spPr>
            <a:xfrm>
              <a:off x="2524125" y="2000250"/>
              <a:ext cx="13812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Create test checklist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96" name="Google Shape;196;p10"/>
          <p:cNvGrpSpPr/>
          <p:nvPr/>
        </p:nvGrpSpPr>
        <p:grpSpPr>
          <a:xfrm>
            <a:off x="4312920" y="1524000"/>
            <a:ext cx="1619100" cy="2857500"/>
            <a:chOff x="4312920" y="1524000"/>
            <a:chExt cx="1619100" cy="2857500"/>
          </a:xfrm>
        </p:grpSpPr>
        <p:sp>
          <p:nvSpPr>
            <p:cNvPr id="197" name="Google Shape;197;p10"/>
            <p:cNvSpPr/>
            <p:nvPr/>
          </p:nvSpPr>
          <p:spPr>
            <a:xfrm>
              <a:off x="4312920" y="1524000"/>
              <a:ext cx="1619100" cy="2857500"/>
            </a:xfrm>
            <a:prstGeom prst="roundRect">
              <a:avLst>
                <a:gd fmla="val 7058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0"/>
            <p:cNvSpPr/>
            <p:nvPr/>
          </p:nvSpPr>
          <p:spPr>
            <a:xfrm>
              <a:off x="4312920" y="1524000"/>
              <a:ext cx="16191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0"/>
            <p:cNvSpPr txBox="1"/>
            <p:nvPr/>
          </p:nvSpPr>
          <p:spPr>
            <a:xfrm>
              <a:off x="4312920" y="1571625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03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00" name="Google Shape;200;p10"/>
            <p:cNvSpPr txBox="1"/>
            <p:nvPr/>
          </p:nvSpPr>
          <p:spPr>
            <a:xfrm>
              <a:off x="4429125" y="2000250"/>
              <a:ext cx="13812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Run tests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201" name="Google Shape;201;p10"/>
          <p:cNvGrpSpPr/>
          <p:nvPr/>
        </p:nvGrpSpPr>
        <p:grpSpPr>
          <a:xfrm>
            <a:off x="6217920" y="1524000"/>
            <a:ext cx="1619100" cy="2857500"/>
            <a:chOff x="6217920" y="1524000"/>
            <a:chExt cx="1619100" cy="2857500"/>
          </a:xfrm>
        </p:grpSpPr>
        <p:sp>
          <p:nvSpPr>
            <p:cNvPr id="202" name="Google Shape;202;p10"/>
            <p:cNvSpPr/>
            <p:nvPr/>
          </p:nvSpPr>
          <p:spPr>
            <a:xfrm>
              <a:off x="6217920" y="1524000"/>
              <a:ext cx="1619100" cy="2857500"/>
            </a:xfrm>
            <a:prstGeom prst="roundRect">
              <a:avLst>
                <a:gd fmla="val 7058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0"/>
            <p:cNvSpPr/>
            <p:nvPr/>
          </p:nvSpPr>
          <p:spPr>
            <a:xfrm>
              <a:off x="6217920" y="1524000"/>
              <a:ext cx="16191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0"/>
            <p:cNvSpPr txBox="1"/>
            <p:nvPr/>
          </p:nvSpPr>
          <p:spPr>
            <a:xfrm>
              <a:off x="6217920" y="1571625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04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05" name="Google Shape;205;p10"/>
            <p:cNvSpPr txBox="1"/>
            <p:nvPr/>
          </p:nvSpPr>
          <p:spPr>
            <a:xfrm>
              <a:off x="6334125" y="2000250"/>
              <a:ext cx="13812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Log bugs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206" name="Google Shape;206;p10"/>
          <p:cNvGrpSpPr/>
          <p:nvPr/>
        </p:nvGrpSpPr>
        <p:grpSpPr>
          <a:xfrm>
            <a:off x="8122920" y="1524000"/>
            <a:ext cx="1619100" cy="2857500"/>
            <a:chOff x="8122920" y="1524000"/>
            <a:chExt cx="1619100" cy="2857500"/>
          </a:xfrm>
        </p:grpSpPr>
        <p:sp>
          <p:nvSpPr>
            <p:cNvPr id="207" name="Google Shape;207;p10"/>
            <p:cNvSpPr/>
            <p:nvPr/>
          </p:nvSpPr>
          <p:spPr>
            <a:xfrm>
              <a:off x="8122920" y="1524000"/>
              <a:ext cx="1619100" cy="2857500"/>
            </a:xfrm>
            <a:prstGeom prst="roundRect">
              <a:avLst>
                <a:gd fmla="val 7058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8122920" y="1524000"/>
              <a:ext cx="16191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0"/>
            <p:cNvSpPr txBox="1"/>
            <p:nvPr/>
          </p:nvSpPr>
          <p:spPr>
            <a:xfrm>
              <a:off x="8122920" y="1571625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05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10" name="Google Shape;210;p10"/>
            <p:cNvSpPr txBox="1"/>
            <p:nvPr/>
          </p:nvSpPr>
          <p:spPr>
            <a:xfrm>
              <a:off x="8239125" y="2000250"/>
              <a:ext cx="13812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Assign severity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211" name="Google Shape;211;p10"/>
          <p:cNvGrpSpPr/>
          <p:nvPr/>
        </p:nvGrpSpPr>
        <p:grpSpPr>
          <a:xfrm>
            <a:off x="10027920" y="1524000"/>
            <a:ext cx="1619100" cy="2857500"/>
            <a:chOff x="10027920" y="1524000"/>
            <a:chExt cx="1619100" cy="2857500"/>
          </a:xfrm>
        </p:grpSpPr>
        <p:sp>
          <p:nvSpPr>
            <p:cNvPr id="212" name="Google Shape;212;p10"/>
            <p:cNvSpPr/>
            <p:nvPr/>
          </p:nvSpPr>
          <p:spPr>
            <a:xfrm>
              <a:off x="10027920" y="1524000"/>
              <a:ext cx="1619100" cy="2857500"/>
            </a:xfrm>
            <a:prstGeom prst="roundRect">
              <a:avLst>
                <a:gd fmla="val 7058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10027920" y="1524000"/>
              <a:ext cx="16191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0"/>
            <p:cNvSpPr txBox="1"/>
            <p:nvPr/>
          </p:nvSpPr>
          <p:spPr>
            <a:xfrm>
              <a:off x="10027920" y="1571625"/>
              <a:ext cx="16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06</a:t>
              </a:r>
              <a:endParaRPr b="1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15" name="Google Shape;215;p10"/>
            <p:cNvSpPr txBox="1"/>
            <p:nvPr/>
          </p:nvSpPr>
          <p:spPr>
            <a:xfrm>
              <a:off x="10144125" y="2000250"/>
              <a:ext cx="13812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Update Sprint Packet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pic>
        <p:nvPicPr>
          <p:cNvPr id="216" name="Google Shape;2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9313" y="2886075"/>
            <a:ext cx="480900" cy="1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4313" y="2886075"/>
            <a:ext cx="480900" cy="1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313" y="2886075"/>
            <a:ext cx="480900" cy="1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4313" y="2886075"/>
            <a:ext cx="480900" cy="1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8/28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0040112" y="2523744"/>
            <a:ext cx="107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Update Sprint Packet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Core MVP Flow</a:t>
            </a:r>
            <a:endParaRPr b="1" sz="32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02920" y="904875"/>
            <a:ext cx="1905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Core MVP Flow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502920" y="1238250"/>
            <a:ext cx="11186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Write your main user flow in </a:t>
            </a:r>
            <a:r>
              <a:rPr b="1" lang="en-US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3–6 steps</a:t>
            </a:r>
            <a:r>
              <a:rPr b="0" lang="en-US" sz="16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. If you cannot describe the flow, you cannot test it.</a:t>
            </a:r>
            <a:endParaRPr b="0" sz="1600">
              <a:solidFill>
                <a:srgbClr val="CBD5E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231" name="Google Shape;231;p11"/>
          <p:cNvGrpSpPr/>
          <p:nvPr/>
        </p:nvGrpSpPr>
        <p:grpSpPr>
          <a:xfrm>
            <a:off x="502920" y="2095500"/>
            <a:ext cx="9429900" cy="2286000"/>
            <a:chOff x="502920" y="2095500"/>
            <a:chExt cx="9429900" cy="2286000"/>
          </a:xfrm>
        </p:grpSpPr>
        <p:sp>
          <p:nvSpPr>
            <p:cNvPr id="232" name="Google Shape;232;p11"/>
            <p:cNvSpPr/>
            <p:nvPr/>
          </p:nvSpPr>
          <p:spPr>
            <a:xfrm>
              <a:off x="502920" y="2095500"/>
              <a:ext cx="1809600" cy="2286000"/>
            </a:xfrm>
            <a:prstGeom prst="roundRect">
              <a:avLst>
                <a:gd fmla="val 6315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502920" y="2095500"/>
              <a:ext cx="18096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1"/>
            <p:cNvSpPr txBox="1"/>
            <p:nvPr/>
          </p:nvSpPr>
          <p:spPr>
            <a:xfrm>
              <a:off x="502920" y="20955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01</a:t>
              </a:r>
              <a:endParaRPr b="1" sz="14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35" name="Google Shape;235;p11"/>
            <p:cNvSpPr txBox="1"/>
            <p:nvPr/>
          </p:nvSpPr>
          <p:spPr>
            <a:xfrm>
              <a:off x="619125" y="2571750"/>
              <a:ext cx="15717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User signs up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2407920" y="2095500"/>
              <a:ext cx="1809600" cy="2286000"/>
            </a:xfrm>
            <a:prstGeom prst="roundRect">
              <a:avLst>
                <a:gd fmla="val 6315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2407920" y="2095500"/>
              <a:ext cx="18096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1"/>
            <p:cNvSpPr txBox="1"/>
            <p:nvPr/>
          </p:nvSpPr>
          <p:spPr>
            <a:xfrm>
              <a:off x="2407920" y="20955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02</a:t>
              </a:r>
              <a:endParaRPr b="1" sz="14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39" name="Google Shape;239;p11"/>
            <p:cNvSpPr txBox="1"/>
            <p:nvPr/>
          </p:nvSpPr>
          <p:spPr>
            <a:xfrm>
              <a:off x="2524125" y="2571750"/>
              <a:ext cx="15717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User logs in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4312920" y="2095500"/>
              <a:ext cx="1809600" cy="2286000"/>
            </a:xfrm>
            <a:prstGeom prst="roundRect">
              <a:avLst>
                <a:gd fmla="val 6315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4312920" y="2095500"/>
              <a:ext cx="18096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1"/>
            <p:cNvSpPr txBox="1"/>
            <p:nvPr/>
          </p:nvSpPr>
          <p:spPr>
            <a:xfrm>
              <a:off x="4312920" y="20955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03</a:t>
              </a:r>
              <a:endParaRPr b="1" sz="14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43" name="Google Shape;243;p11"/>
            <p:cNvSpPr txBox="1"/>
            <p:nvPr/>
          </p:nvSpPr>
          <p:spPr>
            <a:xfrm>
              <a:off x="4429125" y="2571750"/>
              <a:ext cx="15717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User creates item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6217920" y="2095500"/>
              <a:ext cx="1809600" cy="2286000"/>
            </a:xfrm>
            <a:prstGeom prst="roundRect">
              <a:avLst>
                <a:gd fmla="val 6315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217920" y="2095500"/>
              <a:ext cx="18096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1"/>
            <p:cNvSpPr txBox="1"/>
            <p:nvPr/>
          </p:nvSpPr>
          <p:spPr>
            <a:xfrm>
              <a:off x="6217920" y="2095500"/>
              <a:ext cx="18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04</a:t>
              </a:r>
              <a:endParaRPr b="1" sz="14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47" name="Google Shape;247;p11"/>
            <p:cNvSpPr txBox="1"/>
            <p:nvPr/>
          </p:nvSpPr>
          <p:spPr>
            <a:xfrm>
              <a:off x="6334125" y="2571750"/>
              <a:ext cx="15717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User views saved item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8122920" y="2095500"/>
              <a:ext cx="1809900" cy="2286000"/>
            </a:xfrm>
            <a:prstGeom prst="roundRect">
              <a:avLst>
                <a:gd fmla="val 6315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8122920" y="2095500"/>
              <a:ext cx="1809900" cy="381000"/>
            </a:xfrm>
            <a:prstGeom prst="roundRect">
              <a:avLst>
                <a:gd fmla="val 3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1"/>
            <p:cNvSpPr txBox="1"/>
            <p:nvPr/>
          </p:nvSpPr>
          <p:spPr>
            <a:xfrm>
              <a:off x="8122920" y="2095500"/>
              <a:ext cx="1809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05</a:t>
              </a:r>
              <a:endParaRPr b="1" sz="14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51" name="Google Shape;251;p11"/>
            <p:cNvSpPr txBox="1"/>
            <p:nvPr/>
          </p:nvSpPr>
          <p:spPr>
            <a:xfrm>
              <a:off x="8239125" y="2571750"/>
              <a:ext cx="15717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User edits or deletes item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252" name="Google Shape;252;p11"/>
          <p:cNvGrpSpPr/>
          <p:nvPr/>
        </p:nvGrpSpPr>
        <p:grpSpPr>
          <a:xfrm>
            <a:off x="2309813" y="3228975"/>
            <a:ext cx="5814900" cy="19200"/>
            <a:chOff x="2309813" y="3228975"/>
            <a:chExt cx="5814900" cy="19200"/>
          </a:xfrm>
        </p:grpSpPr>
        <p:pic>
          <p:nvPicPr>
            <p:cNvPr id="253" name="Google Shape;25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09813" y="3228975"/>
              <a:ext cx="999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14813" y="3228975"/>
              <a:ext cx="999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19813" y="3228975"/>
              <a:ext cx="999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24813" y="3228975"/>
              <a:ext cx="999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7" name="Google Shape;257;p11"/>
          <p:cNvGrpSpPr/>
          <p:nvPr/>
        </p:nvGrpSpPr>
        <p:grpSpPr>
          <a:xfrm>
            <a:off x="495300" y="4757764"/>
            <a:ext cx="10515720" cy="861986"/>
            <a:chOff x="495300" y="4757764"/>
            <a:chExt cx="10515720" cy="861986"/>
          </a:xfrm>
        </p:grpSpPr>
        <p:pic>
          <p:nvPicPr>
            <p:cNvPr id="258" name="Google Shape;258;p11"/>
            <p:cNvPicPr preferRelativeResize="0"/>
            <p:nvPr/>
          </p:nvPicPr>
          <p:blipFill rotWithShape="1">
            <a:blip r:embed="rId4">
              <a:alphaModFix/>
            </a:blip>
            <a:srcRect b="0" l="0" r="49370" t="0"/>
            <a:stretch/>
          </p:blipFill>
          <p:spPr>
            <a:xfrm>
              <a:off x="495300" y="4757764"/>
              <a:ext cx="86487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11"/>
            <p:cNvSpPr txBox="1"/>
            <p:nvPr/>
          </p:nvSpPr>
          <p:spPr>
            <a:xfrm>
              <a:off x="693420" y="4857750"/>
              <a:ext cx="10317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EXAMPLE:</a:t>
              </a:r>
              <a:endParaRPr b="1" sz="12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The flow represents the critical path a user takes to achieve value. Map each major interaction as a discrete step.</a:t>
              </a:r>
              <a:endParaRPr b="0" sz="12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260" name="Google Shape;260;p11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9/28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Week 12 QA Day / 9/28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QA Checklist File</a:t>
            </a:r>
            <a:endParaRPr b="1" sz="32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02920" y="904875"/>
            <a:ext cx="1905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" name="Google Shape;269;p12"/>
          <p:cNvGrpSpPr/>
          <p:nvPr/>
        </p:nvGrpSpPr>
        <p:grpSpPr>
          <a:xfrm>
            <a:off x="502920" y="1333500"/>
            <a:ext cx="3810000" cy="4572000"/>
            <a:chOff x="502920" y="1333500"/>
            <a:chExt cx="3810000" cy="4572000"/>
          </a:xfrm>
        </p:grpSpPr>
        <p:sp>
          <p:nvSpPr>
            <p:cNvPr id="270" name="Google Shape;270;p12"/>
            <p:cNvSpPr/>
            <p:nvPr/>
          </p:nvSpPr>
          <p:spPr>
            <a:xfrm>
              <a:off x="502920" y="1333500"/>
              <a:ext cx="3810000" cy="4572000"/>
            </a:xfrm>
            <a:prstGeom prst="roundRect">
              <a:avLst>
                <a:gd fmla="val 3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2"/>
            <p:cNvSpPr txBox="1"/>
            <p:nvPr/>
          </p:nvSpPr>
          <p:spPr>
            <a:xfrm>
              <a:off x="693420" y="1524000"/>
              <a:ext cx="3429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Required Elements</a:t>
              </a:r>
              <a:endParaRPr b="1" sz="18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core MVP flow</a:t>
              </a:r>
              <a:endParaRPr/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test cases</a:t>
              </a:r>
              <a:endParaRPr/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expected result</a:t>
              </a:r>
              <a:endParaRPr/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actual result</a:t>
              </a:r>
              <a:endParaRPr/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pass/fail</a:t>
              </a:r>
              <a:endParaRPr/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evidence</a:t>
              </a:r>
              <a:endParaRPr/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Issue link</a:t>
              </a:r>
              <a:endParaRPr/>
            </a:p>
          </p:txBody>
        </p:sp>
      </p:grpSp>
      <p:sp>
        <p:nvSpPr>
          <p:cNvPr id="272" name="Google Shape;272;p12"/>
          <p:cNvSpPr/>
          <p:nvPr/>
        </p:nvSpPr>
        <p:spPr>
          <a:xfrm>
            <a:off x="4857750" y="1333500"/>
            <a:ext cx="6766500" cy="4572000"/>
          </a:xfrm>
          <a:prstGeom prst="roundRect">
            <a:avLst>
              <a:gd fmla="val 2500" name="adj"/>
            </a:avLst>
          </a:prstGeom>
          <a:solidFill>
            <a:srgbClr val="020617"/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4857750" y="1333500"/>
            <a:ext cx="6766500" cy="381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4857750" y="1524000"/>
            <a:ext cx="6766500" cy="190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5022342" y="1428750"/>
            <a:ext cx="643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QA_CHECKLIST.md</a:t>
            </a:r>
            <a:endParaRPr sz="1100">
              <a:solidFill>
                <a:srgbClr val="94A3B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022342" y="1809750"/>
            <a:ext cx="6419100" cy="361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Standard Location</a:t>
            </a:r>
            <a:endParaRPr sz="1400">
              <a:solidFill>
                <a:srgbClr val="64748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docs/QA_CHECKLIST.md</a:t>
            </a:r>
            <a:endParaRPr sz="1400">
              <a:solidFill>
                <a:srgbClr val="F8FA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// Example Content</a:t>
            </a:r>
            <a:endParaRPr sz="1400">
              <a:solidFill>
                <a:srgbClr val="64748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| ID | Test Case | Expected | Actual | Pass/Fail |</a:t>
            </a:r>
            <a:endParaRPr sz="1400">
              <a:solidFill>
                <a:srgbClr val="F8FA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|---|---|---|---|---|</a:t>
            </a:r>
            <a:endParaRPr sz="1400">
              <a:solidFill>
                <a:srgbClr val="F8FA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| 01 | Login | Home view | Home view | PASS |</a:t>
            </a:r>
            <a:endParaRPr sz="1400">
              <a:solidFill>
                <a:srgbClr val="F8FAF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10/28</a:t>
            </a:r>
            <a:endParaRPr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Minimum Test Cases</a:t>
            </a:r>
            <a:endParaRPr b="1" sz="32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84" name="Google Shape;284;p13"/>
          <p:cNvCxnSpPr/>
          <p:nvPr/>
        </p:nvCxnSpPr>
        <p:spPr>
          <a:xfrm>
            <a:off x="502920" y="904875"/>
            <a:ext cx="19050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3"/>
          <p:cNvSpPr/>
          <p:nvPr/>
        </p:nvSpPr>
        <p:spPr>
          <a:xfrm>
            <a:off x="502920" y="1143000"/>
            <a:ext cx="10698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Your QA strategy must include </a:t>
            </a:r>
            <a:r>
              <a:rPr b="1" lang="en-US" sz="18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at least 8 tests</a:t>
            </a:r>
            <a:r>
              <a:rPr b="0" lang="en-US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 covering critical application areas.</a:t>
            </a:r>
            <a:endParaRPr b="0" sz="1800">
              <a:solidFill>
                <a:srgbClr val="CBD5E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286" name="Google Shape;286;p13"/>
          <p:cNvGrpSpPr/>
          <p:nvPr/>
        </p:nvGrpSpPr>
        <p:grpSpPr>
          <a:xfrm>
            <a:off x="502920" y="1905000"/>
            <a:ext cx="10715775" cy="2619525"/>
            <a:chOff x="502920" y="1905000"/>
            <a:chExt cx="10715775" cy="2619525"/>
          </a:xfrm>
        </p:grpSpPr>
        <p:sp>
          <p:nvSpPr>
            <p:cNvPr id="287" name="Google Shape;287;p13"/>
            <p:cNvSpPr/>
            <p:nvPr/>
          </p:nvSpPr>
          <p:spPr>
            <a:xfrm>
              <a:off x="502920" y="1905000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3"/>
            <p:cNvSpPr txBox="1"/>
            <p:nvPr/>
          </p:nvSpPr>
          <p:spPr>
            <a:xfrm>
              <a:off x="645795" y="2047875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18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setup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Environment config and initial states.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3217545" y="1905000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3"/>
            <p:cNvSpPr txBox="1"/>
            <p:nvPr/>
          </p:nvSpPr>
          <p:spPr>
            <a:xfrm>
              <a:off x="3360420" y="2047875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18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main flow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The happy path of the core MVP flow.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5932170" y="1905000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3"/>
            <p:cNvSpPr txBox="1"/>
            <p:nvPr/>
          </p:nvSpPr>
          <p:spPr>
            <a:xfrm>
              <a:off x="6075045" y="2047875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explore</a:t>
              </a:r>
              <a:endParaRPr sz="18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navigation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Moving between screens and modules.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8646795" y="1905000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3"/>
            <p:cNvSpPr txBox="1"/>
            <p:nvPr/>
          </p:nvSpPr>
          <p:spPr>
            <a:xfrm>
              <a:off x="8789670" y="2047875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folder_off</a:t>
              </a:r>
              <a:endParaRPr sz="18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empty state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UI behavior when no data exists.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502920" y="3286125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3"/>
            <p:cNvSpPr txBox="1"/>
            <p:nvPr/>
          </p:nvSpPr>
          <p:spPr>
            <a:xfrm>
              <a:off x="645795" y="34290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18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error state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Handling invalid inputs and failures.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3217545" y="3286125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3"/>
            <p:cNvSpPr txBox="1"/>
            <p:nvPr/>
          </p:nvSpPr>
          <p:spPr>
            <a:xfrm>
              <a:off x="3360420" y="34290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save</a:t>
              </a:r>
              <a:endParaRPr sz="18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data save/load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Persistence of user data and settings.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5932170" y="3286125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3"/>
            <p:cNvSpPr txBox="1"/>
            <p:nvPr/>
          </p:nvSpPr>
          <p:spPr>
            <a:xfrm>
              <a:off x="6075045" y="34290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18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deployment/demo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Production readiness check.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8646795" y="3286125"/>
              <a:ext cx="2571900" cy="1238400"/>
            </a:xfrm>
            <a:prstGeom prst="roundRect">
              <a:avLst>
                <a:gd fmla="val 923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3"/>
            <p:cNvSpPr txBox="1"/>
            <p:nvPr/>
          </p:nvSpPr>
          <p:spPr>
            <a:xfrm>
              <a:off x="8789670" y="342900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account_circle</a:t>
              </a:r>
              <a:endParaRPr sz="18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ownership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Clear evidence of individual work.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303" name="Google Shape;303;p13"/>
          <p:cNvGrpSpPr/>
          <p:nvPr/>
        </p:nvGrpSpPr>
        <p:grpSpPr>
          <a:xfrm>
            <a:off x="502920" y="4953000"/>
            <a:ext cx="10715700" cy="762000"/>
            <a:chOff x="502920" y="4953000"/>
            <a:chExt cx="10715700" cy="762000"/>
          </a:xfrm>
        </p:grpSpPr>
        <p:sp>
          <p:nvSpPr>
            <p:cNvPr id="304" name="Google Shape;304;p13"/>
            <p:cNvSpPr/>
            <p:nvPr/>
          </p:nvSpPr>
          <p:spPr>
            <a:xfrm>
              <a:off x="502920" y="4953000"/>
              <a:ext cx="10715700" cy="762000"/>
            </a:xfrm>
            <a:prstGeom prst="roundRect">
              <a:avLst>
                <a:gd fmla="val 10000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3"/>
            <p:cNvSpPr txBox="1"/>
            <p:nvPr/>
          </p:nvSpPr>
          <p:spPr>
            <a:xfrm>
              <a:off x="693420" y="5048250"/>
              <a:ext cx="10334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PRO TIP: </a:t>
              </a:r>
              <a:r>
                <a:rPr b="0" lang="en-US" sz="12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A test without an expected result is just a suggestion. Map every interaction clearly.</a:t>
              </a:r>
              <a:endParaRPr b="1" sz="12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06" name="Google Shape;306;p13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11/28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Bug Severity</a:t>
            </a:r>
            <a:endParaRPr b="1" sz="32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502920" y="904875"/>
            <a:ext cx="1905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502920" y="1095375"/>
            <a:ext cx="10698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Severity is about </a:t>
            </a:r>
            <a:r>
              <a:rPr b="1" lang="en-US" sz="18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demo risk</a:t>
            </a:r>
            <a:r>
              <a:rPr b="0" lang="en-US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 and </a:t>
            </a:r>
            <a:r>
              <a:rPr b="1" lang="en-US" sz="18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user impact</a:t>
            </a:r>
            <a:r>
              <a:rPr b="0" lang="en-US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 b="0" sz="1800">
              <a:solidFill>
                <a:srgbClr val="CBD5E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315" name="Google Shape;315;p14"/>
          <p:cNvGrpSpPr/>
          <p:nvPr/>
        </p:nvGrpSpPr>
        <p:grpSpPr>
          <a:xfrm>
            <a:off x="502920" y="1714500"/>
            <a:ext cx="11144400" cy="2857500"/>
            <a:chOff x="502920" y="1714500"/>
            <a:chExt cx="11144400" cy="2857500"/>
          </a:xfrm>
        </p:grpSpPr>
        <p:sp>
          <p:nvSpPr>
            <p:cNvPr id="316" name="Google Shape;316;p14"/>
            <p:cNvSpPr/>
            <p:nvPr/>
          </p:nvSpPr>
          <p:spPr>
            <a:xfrm>
              <a:off x="502920" y="1714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 txBox="1"/>
            <p:nvPr/>
          </p:nvSpPr>
          <p:spPr>
            <a:xfrm>
              <a:off x="502920" y="1714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highlight>
                    <a:srgbClr val="DC2626"/>
                  </a:highlight>
                  <a:latin typeface="Play"/>
                  <a:ea typeface="Play"/>
                  <a:cs typeface="Play"/>
                  <a:sym typeface="Play"/>
                </a:rPr>
                <a:t>P0</a:t>
              </a:r>
              <a:endParaRPr b="1" sz="2400">
                <a:solidFill>
                  <a:srgbClr val="FFFFFF"/>
                </a:solidFill>
                <a:highlight>
                  <a:srgbClr val="DC2626"/>
                </a:highlight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Final demo cannot work</a:t>
              </a:r>
              <a:endParaRPr b="1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Critical failure of the presentation path.</a:t>
              </a:r>
              <a:endParaRPr b="0" sz="12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3360420" y="1714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4"/>
            <p:cNvSpPr txBox="1"/>
            <p:nvPr/>
          </p:nvSpPr>
          <p:spPr>
            <a:xfrm>
              <a:off x="3360420" y="1714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highlight>
                    <a:srgbClr val="EA580C"/>
                  </a:highlight>
                  <a:latin typeface="Play"/>
                  <a:ea typeface="Play"/>
                  <a:cs typeface="Play"/>
                  <a:sym typeface="Play"/>
                </a:rPr>
                <a:t>P1</a:t>
              </a:r>
              <a:endParaRPr b="1" sz="2400">
                <a:solidFill>
                  <a:srgbClr val="FFFFFF"/>
                </a:solidFill>
                <a:highlight>
                  <a:srgbClr val="EA580C"/>
                </a:highlight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Core feature broken</a:t>
              </a:r>
              <a:endParaRPr b="1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Essential functionality is non-operational.</a:t>
              </a:r>
              <a:endParaRPr b="0" sz="12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6217920" y="1714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 txBox="1"/>
            <p:nvPr/>
          </p:nvSpPr>
          <p:spPr>
            <a:xfrm>
              <a:off x="6217920" y="1714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highlight>
                    <a:srgbClr val="F59E0B"/>
                  </a:highlight>
                  <a:latin typeface="Play"/>
                  <a:ea typeface="Play"/>
                  <a:cs typeface="Play"/>
                  <a:sym typeface="Play"/>
                </a:rPr>
                <a:t>P2</a:t>
              </a:r>
              <a:endParaRPr b="1" sz="2400">
                <a:solidFill>
                  <a:srgbClr val="FFFFFF"/>
                </a:solidFill>
                <a:highlight>
                  <a:srgbClr val="F59E0B"/>
                </a:highlight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Important, workaround exists</a:t>
              </a:r>
              <a:endParaRPr b="1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Significant issue with an available bypass.</a:t>
              </a:r>
              <a:endParaRPr b="0" sz="12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9075420" y="1714500"/>
              <a:ext cx="2571900" cy="2857500"/>
            </a:xfrm>
            <a:prstGeom prst="roundRect">
              <a:avLst>
                <a:gd fmla="val 4444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4"/>
            <p:cNvSpPr txBox="1"/>
            <p:nvPr/>
          </p:nvSpPr>
          <p:spPr>
            <a:xfrm>
              <a:off x="9075420" y="1714500"/>
              <a:ext cx="2571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highlight>
                    <a:srgbClr val="2563EB"/>
                  </a:highlight>
                  <a:latin typeface="Play"/>
                  <a:ea typeface="Play"/>
                  <a:cs typeface="Play"/>
                  <a:sym typeface="Play"/>
                </a:rPr>
                <a:t>P3</a:t>
              </a:r>
              <a:endParaRPr b="1" sz="2400">
                <a:solidFill>
                  <a:srgbClr val="FFFFFF"/>
                </a:solidFill>
                <a:highlight>
                  <a:srgbClr val="2563EB"/>
                </a:highlight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Polish / nice improvement</a:t>
              </a:r>
              <a:endParaRPr b="1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Minor UI/UX improvements or non-critical fixes.</a:t>
              </a:r>
              <a:endParaRPr b="0" sz="12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324" name="Google Shape;324;p14"/>
          <p:cNvGrpSpPr/>
          <p:nvPr/>
        </p:nvGrpSpPr>
        <p:grpSpPr>
          <a:xfrm>
            <a:off x="5091113" y="4229100"/>
            <a:ext cx="2009700" cy="1485900"/>
            <a:chOff x="5091113" y="4229100"/>
            <a:chExt cx="2009700" cy="1485900"/>
          </a:xfrm>
        </p:grpSpPr>
        <p:pic>
          <p:nvPicPr>
            <p:cNvPr id="325" name="Google Shape;32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91113" y="4229100"/>
              <a:ext cx="20097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91113" y="4229100"/>
              <a:ext cx="17193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14"/>
            <p:cNvSpPr txBox="1"/>
            <p:nvPr/>
          </p:nvSpPr>
          <p:spPr>
            <a:xfrm>
              <a:off x="5143500" y="533400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DEMO RISK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328" name="Google Shape;328;p14"/>
          <p:cNvGrpSpPr/>
          <p:nvPr/>
        </p:nvGrpSpPr>
        <p:grpSpPr>
          <a:xfrm>
            <a:off x="502920" y="5810250"/>
            <a:ext cx="11186100" cy="571500"/>
            <a:chOff x="502920" y="5810250"/>
            <a:chExt cx="11186100" cy="571500"/>
          </a:xfrm>
        </p:grpSpPr>
        <p:sp>
          <p:nvSpPr>
            <p:cNvPr id="329" name="Google Shape;329;p14"/>
            <p:cNvSpPr/>
            <p:nvPr/>
          </p:nvSpPr>
          <p:spPr>
            <a:xfrm>
              <a:off x="502920" y="5810250"/>
              <a:ext cx="11186100" cy="571500"/>
            </a:xfrm>
            <a:prstGeom prst="roundRect">
              <a:avLst>
                <a:gd fmla="val 13333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4"/>
            <p:cNvSpPr txBox="1"/>
            <p:nvPr/>
          </p:nvSpPr>
          <p:spPr>
            <a:xfrm>
              <a:off x="693420" y="5810250"/>
              <a:ext cx="10805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REMINDER: </a:t>
              </a:r>
              <a:r>
                <a:rPr b="0" lang="en-US" sz="12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Assign severity based on the objective impact to the end user and presentation readiness.</a:t>
              </a:r>
              <a:endParaRPr b="1" sz="12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31" name="Google Shape;331;p14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64748B"/>
                </a:solidFill>
                <a:latin typeface="Play"/>
                <a:ea typeface="Play"/>
                <a:cs typeface="Play"/>
                <a:sym typeface="Play"/>
              </a:rPr>
              <a:t>Week 12 QA Day / 12/28</a:t>
            </a:r>
            <a:endParaRPr b="0" sz="750">
              <a:solidFill>
                <a:srgbClr val="64748B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5"/>
          <p:cNvGrpSpPr/>
          <p:nvPr/>
        </p:nvGrpSpPr>
        <p:grpSpPr>
          <a:xfrm>
            <a:off x="502920" y="292608"/>
            <a:ext cx="10698600" cy="650367"/>
            <a:chOff x="502920" y="292608"/>
            <a:chExt cx="10698600" cy="650367"/>
          </a:xfrm>
        </p:grpSpPr>
        <p:sp>
          <p:nvSpPr>
            <p:cNvPr id="338" name="Google Shape;338;p15"/>
            <p:cNvSpPr txBox="1"/>
            <p:nvPr/>
          </p:nvSpPr>
          <p:spPr>
            <a:xfrm>
              <a:off x="502920" y="292608"/>
              <a:ext cx="106986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Effective Bug Reports</a:t>
              </a:r>
              <a:endParaRPr b="1" sz="32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502920" y="904875"/>
              <a:ext cx="19050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0" name="Google Shape;340;p15"/>
          <p:cNvSpPr txBox="1"/>
          <p:nvPr/>
        </p:nvSpPr>
        <p:spPr>
          <a:xfrm>
            <a:off x="502920" y="1095375"/>
            <a:ext cx="1069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Every important bug needs these </a:t>
            </a:r>
            <a:r>
              <a:rPr b="1" lang="en-US" sz="18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seven essential components</a:t>
            </a:r>
            <a:r>
              <a:rPr b="0" lang="en-US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 b="0" sz="1800">
              <a:solidFill>
                <a:srgbClr val="CBD5E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341" name="Google Shape;341;p15"/>
          <p:cNvGrpSpPr/>
          <p:nvPr/>
        </p:nvGrpSpPr>
        <p:grpSpPr>
          <a:xfrm>
            <a:off x="502920" y="1714500"/>
            <a:ext cx="5334000" cy="3810000"/>
            <a:chOff x="502920" y="1714500"/>
            <a:chExt cx="5334000" cy="3810000"/>
          </a:xfrm>
        </p:grpSpPr>
        <p:sp>
          <p:nvSpPr>
            <p:cNvPr id="342" name="Google Shape;342;p15"/>
            <p:cNvSpPr/>
            <p:nvPr/>
          </p:nvSpPr>
          <p:spPr>
            <a:xfrm>
              <a:off x="502920" y="1714500"/>
              <a:ext cx="5334000" cy="3810000"/>
            </a:xfrm>
            <a:prstGeom prst="roundRect">
              <a:avLst>
                <a:gd fmla="val 3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 txBox="1"/>
            <p:nvPr/>
          </p:nvSpPr>
          <p:spPr>
            <a:xfrm>
              <a:off x="693420" y="1714500"/>
              <a:ext cx="4953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assignment_late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SEVERITY &amp; OWNER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How critical is it and who is responsible?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reorder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REPRODUCTION STEPS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Clear sequence of actions to trigger the bug.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compare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EXPECTED VS ACTUAL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Define the discrepancy clearly.</a:t>
              </a:r>
              <a:endParaRPr sz="11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344" name="Google Shape;344;p15"/>
          <p:cNvGrpSpPr/>
          <p:nvPr/>
        </p:nvGrpSpPr>
        <p:grpSpPr>
          <a:xfrm>
            <a:off x="6217920" y="1714500"/>
            <a:ext cx="5467500" cy="3810000"/>
            <a:chOff x="6217920" y="1714500"/>
            <a:chExt cx="5467500" cy="3810000"/>
          </a:xfrm>
        </p:grpSpPr>
        <p:sp>
          <p:nvSpPr>
            <p:cNvPr id="345" name="Google Shape;345;p15"/>
            <p:cNvSpPr/>
            <p:nvPr/>
          </p:nvSpPr>
          <p:spPr>
            <a:xfrm>
              <a:off x="6217920" y="1714500"/>
              <a:ext cx="5467500" cy="3810000"/>
            </a:xfrm>
            <a:prstGeom prst="roundRect">
              <a:avLst>
                <a:gd fmla="val 3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6217920" y="1714500"/>
              <a:ext cx="76200" cy="38100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 txBox="1"/>
            <p:nvPr/>
          </p:nvSpPr>
          <p:spPr>
            <a:xfrm>
              <a:off x="6429375" y="1857375"/>
              <a:ext cx="50484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GitHub Issue Mockup</a:t>
              </a:r>
              <a:endParaRPr b="1" sz="1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highlight>
                    <a:srgbClr val="0F172A"/>
                  </a:highlight>
                  <a:latin typeface="Play"/>
                  <a:ea typeface="Play"/>
                  <a:cs typeface="Play"/>
                  <a:sym typeface="Play"/>
                </a:rPr>
                <a:t>## Severity:</a:t>
              </a:r>
              <a:r>
                <a:rPr lang="en-US" sz="1100">
                  <a:solidFill>
                    <a:srgbClr val="CBD5E1"/>
                  </a:solidFill>
                  <a:highlight>
                    <a:srgbClr val="0F172A"/>
                  </a:highlight>
                  <a:latin typeface="Play"/>
                  <a:ea typeface="Play"/>
                  <a:cs typeface="Play"/>
                  <a:sym typeface="Play"/>
                </a:rPr>
                <a:t> P0 - Blocker</a:t>
              </a:r>
              <a:endParaRPr sz="1100">
                <a:solidFill>
                  <a:srgbClr val="CBD5E1"/>
                </a:solidFill>
                <a:highlight>
                  <a:srgbClr val="0F172A"/>
                </a:highlight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highlight>
                    <a:srgbClr val="0F172A"/>
                  </a:highlight>
                  <a:latin typeface="Play"/>
                  <a:ea typeface="Play"/>
                  <a:cs typeface="Play"/>
                  <a:sym typeface="Play"/>
                </a:rPr>
                <a:t>## Steps:</a:t>
              </a:r>
              <a:r>
                <a:rPr lang="en-US" sz="1100">
                  <a:solidFill>
                    <a:srgbClr val="CBD5E1"/>
                  </a:solidFill>
                  <a:highlight>
                    <a:srgbClr val="0F172A"/>
                  </a:highlight>
                  <a:latin typeface="Play"/>
                  <a:ea typeface="Play"/>
                  <a:cs typeface="Play"/>
                  <a:sym typeface="Play"/>
                </a:rPr>
                <a:t> 1. Login 2. Click Pay...</a:t>
              </a:r>
              <a:endParaRPr sz="1100">
                <a:solidFill>
                  <a:srgbClr val="CBD5E1"/>
                </a:solidFill>
                <a:highlight>
                  <a:srgbClr val="0F172A"/>
                </a:highlight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highlight>
                    <a:srgbClr val="0F172A"/>
                  </a:highlight>
                  <a:latin typeface="Play"/>
                  <a:ea typeface="Play"/>
                  <a:cs typeface="Play"/>
                  <a:sym typeface="Play"/>
                </a:rPr>
                <a:t>## Expected:</a:t>
              </a:r>
              <a:r>
                <a:rPr lang="en-US" sz="1100">
                  <a:solidFill>
                    <a:srgbClr val="CBD5E1"/>
                  </a:solidFill>
                  <a:highlight>
                    <a:srgbClr val="0F172A"/>
                  </a:highlight>
                  <a:latin typeface="Play"/>
                  <a:ea typeface="Play"/>
                  <a:cs typeface="Play"/>
                  <a:sym typeface="Play"/>
                </a:rPr>
                <a:t> Redirect to success</a:t>
              </a:r>
              <a:endParaRPr sz="1100">
                <a:solidFill>
                  <a:srgbClr val="CBD5E1"/>
                </a:solidFill>
                <a:highlight>
                  <a:srgbClr val="0F172A"/>
                </a:highlight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highlight>
                    <a:srgbClr val="0F172A"/>
                  </a:highlight>
                  <a:latin typeface="Play"/>
                  <a:ea typeface="Play"/>
                  <a:cs typeface="Play"/>
                  <a:sym typeface="Play"/>
                </a:rPr>
                <a:t>## Actual:</a:t>
              </a:r>
              <a:r>
                <a:rPr lang="en-US" sz="1100">
                  <a:solidFill>
                    <a:srgbClr val="CBD5E1"/>
                  </a:solidFill>
                  <a:highlight>
                    <a:srgbClr val="0F172A"/>
                  </a:highlight>
                  <a:latin typeface="Play"/>
                  <a:ea typeface="Play"/>
                  <a:cs typeface="Play"/>
                  <a:sym typeface="Play"/>
                </a:rPr>
                <a:t> 500 Internal Server Error</a:t>
              </a:r>
              <a:endParaRPr sz="1100">
                <a:solidFill>
                  <a:srgbClr val="CBD5E1"/>
                </a:solidFill>
                <a:highlight>
                  <a:srgbClr val="0F172A"/>
                </a:highlight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8FAFC"/>
                  </a:solidFill>
                  <a:highlight>
                    <a:srgbClr val="DC2626"/>
                  </a:highlight>
                  <a:latin typeface="Play"/>
                  <a:ea typeface="Play"/>
                  <a:cs typeface="Play"/>
                  <a:sym typeface="Play"/>
                </a:rPr>
                <a:t>severity:P0</a:t>
              </a:r>
              <a:r>
                <a:rPr lang="en-US">
                  <a:solidFill>
                    <a:srgbClr val="F8FAFC"/>
                  </a:solidFill>
                  <a:highlight>
                    <a:srgbClr val="0F172A"/>
                  </a:highlight>
                  <a:latin typeface="Play"/>
                  <a:ea typeface="Play"/>
                  <a:cs typeface="Play"/>
                  <a:sym typeface="Play"/>
                </a:rPr>
                <a:t> </a:t>
              </a:r>
              <a:r>
                <a:rPr lang="en-US" sz="900">
                  <a:solidFill>
                    <a:srgbClr val="F8FAFC"/>
                  </a:solidFill>
                  <a:highlight>
                    <a:srgbClr val="16A34A"/>
                  </a:highlight>
                  <a:latin typeface="Play"/>
                  <a:ea typeface="Play"/>
                  <a:cs typeface="Play"/>
                  <a:sym typeface="Play"/>
                </a:rPr>
                <a:t>evidence</a:t>
              </a:r>
              <a:endParaRPr>
                <a:solidFill>
                  <a:srgbClr val="F8FAFC"/>
                </a:solidFill>
                <a:highlight>
                  <a:srgbClr val="0F172A"/>
                </a:highlight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Next Steps &amp; Evidence</a:t>
              </a:r>
              <a:endParaRPr b="1" sz="12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rPr>
                <a:t>Always attach logs, screenshots, or screen recordings.</a:t>
              </a:r>
              <a:endParaRPr sz="100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348" name="Google Shape;348;p15"/>
          <p:cNvGrpSpPr/>
          <p:nvPr/>
        </p:nvGrpSpPr>
        <p:grpSpPr>
          <a:xfrm>
            <a:off x="502920" y="5810250"/>
            <a:ext cx="11186100" cy="571500"/>
            <a:chOff x="502920" y="5810250"/>
            <a:chExt cx="11186100" cy="571500"/>
          </a:xfrm>
        </p:grpSpPr>
        <p:sp>
          <p:nvSpPr>
            <p:cNvPr id="349" name="Google Shape;349;p15"/>
            <p:cNvSpPr/>
            <p:nvPr/>
          </p:nvSpPr>
          <p:spPr>
            <a:xfrm>
              <a:off x="502920" y="5810250"/>
              <a:ext cx="11186100" cy="571500"/>
            </a:xfrm>
            <a:prstGeom prst="roundRect">
              <a:avLst>
                <a:gd fmla="val 13333" name="adj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5"/>
            <p:cNvSpPr txBox="1"/>
            <p:nvPr/>
          </p:nvSpPr>
          <p:spPr>
            <a:xfrm>
              <a:off x="693420" y="5810250"/>
              <a:ext cx="10805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CRITICAL REMINDER: </a:t>
              </a:r>
              <a:r>
                <a:rPr b="0" lang="en-US" sz="12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A vague bug is not useful. Precision saves engineering time.</a:t>
              </a:r>
              <a:endParaRPr b="1" sz="12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51" name="Google Shape;351;p15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13/28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16"/>
          <p:cNvGrpSpPr/>
          <p:nvPr/>
        </p:nvGrpSpPr>
        <p:grpSpPr>
          <a:xfrm>
            <a:off x="502920" y="292608"/>
            <a:ext cx="10698600" cy="650367"/>
            <a:chOff x="502920" y="292608"/>
            <a:chExt cx="10698600" cy="650367"/>
          </a:xfrm>
        </p:grpSpPr>
        <p:sp>
          <p:nvSpPr>
            <p:cNvPr id="358" name="Google Shape;358;p16"/>
            <p:cNvSpPr txBox="1"/>
            <p:nvPr/>
          </p:nvSpPr>
          <p:spPr>
            <a:xfrm>
              <a:off x="502920" y="292608"/>
              <a:ext cx="106986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P0/P1 Rule</a:t>
              </a:r>
              <a:endParaRPr b="1" sz="32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502920" y="904875"/>
              <a:ext cx="19050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" name="Google Shape;360;p16"/>
          <p:cNvGrpSpPr/>
          <p:nvPr/>
        </p:nvGrpSpPr>
        <p:grpSpPr>
          <a:xfrm>
            <a:off x="502920" y="1333500"/>
            <a:ext cx="10831830" cy="4000500"/>
            <a:chOff x="502920" y="1333500"/>
            <a:chExt cx="10831830" cy="4000500"/>
          </a:xfrm>
        </p:grpSpPr>
        <p:sp>
          <p:nvSpPr>
            <p:cNvPr id="361" name="Google Shape;361;p16"/>
            <p:cNvSpPr txBox="1"/>
            <p:nvPr/>
          </p:nvSpPr>
          <p:spPr>
            <a:xfrm>
              <a:off x="502920" y="1333500"/>
              <a:ext cx="4762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P0/P1 bugs must become GitHub Issues today.</a:t>
              </a:r>
              <a:endParaRPr b="1" sz="2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No exceptions.</a:t>
              </a:r>
              <a:endParaRPr sz="20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No hiding the bodies.</a:t>
              </a:r>
              <a:endParaRPr sz="20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362" name="Google Shape;362;p16"/>
            <p:cNvGrpSpPr/>
            <p:nvPr/>
          </p:nvGrpSpPr>
          <p:grpSpPr>
            <a:xfrm>
              <a:off x="6000750" y="1333500"/>
              <a:ext cx="5334000" cy="4000500"/>
              <a:chOff x="6000750" y="1333500"/>
              <a:chExt cx="5334000" cy="4000500"/>
            </a:xfrm>
          </p:grpSpPr>
          <p:sp>
            <p:nvSpPr>
              <p:cNvPr id="363" name="Google Shape;363;p16"/>
              <p:cNvSpPr/>
              <p:nvPr/>
            </p:nvSpPr>
            <p:spPr>
              <a:xfrm>
                <a:off x="6000750" y="1333500"/>
                <a:ext cx="5334000" cy="4000500"/>
              </a:xfrm>
              <a:prstGeom prst="roundRect">
                <a:avLst>
                  <a:gd fmla="val 2857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6"/>
              <p:cNvSpPr/>
              <p:nvPr/>
            </p:nvSpPr>
            <p:spPr>
              <a:xfrm>
                <a:off x="6000750" y="1333500"/>
                <a:ext cx="76200" cy="4000500"/>
              </a:xfrm>
              <a:prstGeom prst="roundRect">
                <a:avLst>
                  <a:gd fmla="val 50000" name="adj"/>
                </a:avLst>
              </a:prstGeom>
              <a:solidFill>
                <a:srgbClr val="DC26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6"/>
              <p:cNvSpPr txBox="1"/>
              <p:nvPr/>
            </p:nvSpPr>
            <p:spPr>
              <a:xfrm>
                <a:off x="6286500" y="1524000"/>
                <a:ext cx="4762500" cy="36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59E0B"/>
                    </a:solidFill>
                    <a:latin typeface="Play"/>
                    <a:ea typeface="Play"/>
                    <a:cs typeface="Play"/>
                    <a:sym typeface="Play"/>
                  </a:rPr>
                  <a:t>GitHub Issue Requirements</a:t>
                </a:r>
                <a:endParaRPr b="1" sz="18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1. Severity:</a:t>
                </a:r>
                <a:r>
                  <a:rPr lang="en-US" sz="1300">
                    <a:solidFill>
                      <a:srgbClr val="CBD5E1"/>
                    </a:solidFill>
                    <a:latin typeface="Play"/>
                    <a:ea typeface="Play"/>
                    <a:cs typeface="Play"/>
                    <a:sym typeface="Play"/>
                  </a:rPr>
                  <a:t> P0 or P1</a:t>
                </a:r>
                <a:endParaRPr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2. Steps:</a:t>
                </a:r>
                <a:r>
                  <a:rPr lang="en-US" sz="1300">
                    <a:solidFill>
                      <a:srgbClr val="CBD5E1"/>
                    </a:solidFill>
                    <a:latin typeface="Play"/>
                    <a:ea typeface="Play"/>
                    <a:cs typeface="Play"/>
                    <a:sym typeface="Play"/>
                  </a:rPr>
                  <a:t> Clear reproduction sequence</a:t>
                </a:r>
                <a:endParaRPr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3. Expected:</a:t>
                </a:r>
                <a:r>
                  <a:rPr lang="en-US" sz="1300">
                    <a:solidFill>
                      <a:srgbClr val="CBD5E1"/>
                    </a:solidFill>
                    <a:latin typeface="Play"/>
                    <a:ea typeface="Play"/>
                    <a:cs typeface="Play"/>
                    <a:sym typeface="Play"/>
                  </a:rPr>
                  <a:t> What should happen</a:t>
                </a:r>
                <a:endParaRPr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4. Actual:</a:t>
                </a:r>
                <a:r>
                  <a:rPr lang="en-US" sz="1300">
                    <a:solidFill>
                      <a:srgbClr val="CBD5E1"/>
                    </a:solidFill>
                    <a:latin typeface="Play"/>
                    <a:ea typeface="Play"/>
                    <a:cs typeface="Play"/>
                    <a:sym typeface="Play"/>
                  </a:rPr>
                  <a:t> What actually happened</a:t>
                </a:r>
                <a:endParaRPr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5. Evidence:</a:t>
                </a:r>
                <a:r>
                  <a:rPr lang="en-US" sz="1300">
                    <a:solidFill>
                      <a:srgbClr val="CBD5E1"/>
                    </a:solidFill>
                    <a:latin typeface="Play"/>
                    <a:ea typeface="Play"/>
                    <a:cs typeface="Play"/>
                    <a:sym typeface="Play"/>
                  </a:rPr>
                  <a:t> Logs, screenshots, video</a:t>
                </a:r>
                <a:endParaRPr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6. Owner:</a:t>
                </a:r>
                <a:r>
                  <a:rPr lang="en-US" sz="1300">
                    <a:solidFill>
                      <a:srgbClr val="CBD5E1"/>
                    </a:solidFill>
                    <a:latin typeface="Play"/>
                    <a:ea typeface="Play"/>
                    <a:cs typeface="Play"/>
                    <a:sym typeface="Play"/>
                  </a:rPr>
                  <a:t> Responsible engineer</a:t>
                </a:r>
                <a:endParaRPr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7. Next Step:</a:t>
                </a:r>
                <a:r>
                  <a:rPr lang="en-US" sz="1300">
                    <a:solidFill>
                      <a:srgbClr val="CBD5E1"/>
                    </a:solidFill>
                    <a:latin typeface="Play"/>
                    <a:ea typeface="Play"/>
                    <a:cs typeface="Play"/>
                    <a:sym typeface="Play"/>
                  </a:rPr>
                  <a:t> Immediate action plan</a:t>
                </a:r>
                <a:endParaRPr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FFFF"/>
                    </a:solidFill>
                    <a:highlight>
                      <a:srgbClr val="DC2626"/>
                    </a:highlight>
                    <a:latin typeface="Play"/>
                    <a:ea typeface="Play"/>
                    <a:cs typeface="Play"/>
                    <a:sym typeface="Play"/>
                  </a:rPr>
                  <a:t>severity:P0</a:t>
                </a:r>
                <a:r>
                  <a:rPr b="1" lang="en-US" sz="1000">
                    <a:solidFill>
                      <a:srgbClr val="FFFFFF"/>
                    </a:solidFill>
                    <a:highlight>
                      <a:srgbClr val="16A34A"/>
                    </a:highlight>
                    <a:latin typeface="Play"/>
                    <a:ea typeface="Play"/>
                    <a:cs typeface="Play"/>
                    <a:sym typeface="Play"/>
                  </a:rPr>
                  <a:t>evidence</a:t>
                </a:r>
                <a:endParaRPr sz="1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</p:grpSp>
      <p:sp>
        <p:nvSpPr>
          <p:cNvPr id="366" name="Google Shape;366;p16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14/28</a:t>
            </a:r>
            <a:endParaRPr b="0" i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Evidence Examples</a:t>
            </a:r>
            <a:endParaRPr b="1" sz="32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502920" y="904875"/>
            <a:ext cx="1905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17"/>
          <p:cNvPicPr preferRelativeResize="0"/>
          <p:nvPr/>
        </p:nvPicPr>
        <p:blipFill rotWithShape="1">
          <a:blip r:embed="rId3">
            <a:alphaModFix/>
          </a:blip>
          <a:srcRect b="0" l="20207" r="20201" t="0"/>
          <a:stretch/>
        </p:blipFill>
        <p:spPr>
          <a:xfrm>
            <a:off x="502920" y="1333500"/>
            <a:ext cx="5143500" cy="485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" name="Google Shape;375;p17"/>
          <p:cNvGrpSpPr/>
          <p:nvPr/>
        </p:nvGrpSpPr>
        <p:grpSpPr>
          <a:xfrm>
            <a:off x="5905500" y="1333500"/>
            <a:ext cx="5715000" cy="2333700"/>
            <a:chOff x="5905500" y="1333500"/>
            <a:chExt cx="5715000" cy="2333700"/>
          </a:xfrm>
        </p:grpSpPr>
        <p:sp>
          <p:nvSpPr>
            <p:cNvPr id="376" name="Google Shape;376;p17"/>
            <p:cNvSpPr/>
            <p:nvPr/>
          </p:nvSpPr>
          <p:spPr>
            <a:xfrm>
              <a:off x="5905500" y="1333500"/>
              <a:ext cx="5715000" cy="2333700"/>
            </a:xfrm>
            <a:prstGeom prst="roundRect">
              <a:avLst>
                <a:gd fmla="val 4897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5905500" y="1333500"/>
              <a:ext cx="76200" cy="23337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7"/>
            <p:cNvSpPr txBox="1"/>
            <p:nvPr/>
          </p:nvSpPr>
          <p:spPr>
            <a:xfrm>
              <a:off x="6143625" y="1476375"/>
              <a:ext cx="5238900" cy="20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4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190">
                  <a:latin typeface="Play"/>
                  <a:ea typeface="Play"/>
                  <a:cs typeface="Play"/>
                  <a:sym typeface="Play"/>
                </a:rPr>
                <a:t> </a:t>
              </a:r>
              <a:r>
                <a:rPr b="1" lang="en-US" sz="153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Good Evidence</a:t>
              </a:r>
              <a:endParaRPr sz="1190">
                <a:latin typeface="Play"/>
                <a:ea typeface="Play"/>
                <a:cs typeface="Play"/>
                <a:sym typeface="Play"/>
              </a:endParaRPr>
            </a:p>
            <a:p>
              <a:pPr indent="-29876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105"/>
                <a:buFont typeface="Play"/>
                <a:buChar char="●"/>
              </a:pPr>
              <a:r>
                <a:rPr lang="en-US" sz="1105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PR link</a:t>
              </a:r>
              <a:endParaRPr sz="1105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298768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105"/>
                <a:buFont typeface="Play"/>
                <a:buChar char="●"/>
              </a:pPr>
              <a:r>
                <a:rPr lang="en-US" sz="1105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Issue link</a:t>
              </a:r>
              <a:endParaRPr sz="1105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298768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105"/>
                <a:buFont typeface="Play"/>
                <a:buChar char="●"/>
              </a:pPr>
              <a:r>
                <a:rPr lang="en-US" sz="1105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Screenshot</a:t>
              </a:r>
              <a:endParaRPr sz="1105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298768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105"/>
                <a:buFont typeface="Play"/>
                <a:buChar char="●"/>
              </a:pPr>
              <a:r>
                <a:rPr lang="en-US" sz="1105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Test output</a:t>
              </a:r>
              <a:endParaRPr sz="1105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298768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105"/>
                <a:buFont typeface="Play"/>
                <a:buChar char="●"/>
              </a:pPr>
              <a:r>
                <a:rPr lang="en-US" sz="1105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CI run</a:t>
              </a:r>
              <a:endParaRPr sz="1105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298768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105"/>
                <a:buFont typeface="Play"/>
                <a:buChar char="●"/>
              </a:pPr>
              <a:r>
                <a:rPr lang="en-US" sz="1105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Demo video</a:t>
              </a:r>
              <a:endParaRPr sz="1105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298768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CBD5E1"/>
                </a:buClr>
                <a:buSzPts val="1105"/>
                <a:buFont typeface="Play"/>
                <a:buChar char="●"/>
              </a:pPr>
              <a:r>
                <a:rPr lang="en-US" sz="1105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Docs commit</a:t>
              </a:r>
              <a:endParaRPr sz="1105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379" name="Google Shape;379;p17"/>
          <p:cNvGrpSpPr/>
          <p:nvPr/>
        </p:nvGrpSpPr>
        <p:grpSpPr>
          <a:xfrm>
            <a:off x="5905500" y="3857625"/>
            <a:ext cx="5715000" cy="2333700"/>
            <a:chOff x="5905500" y="3857625"/>
            <a:chExt cx="5715000" cy="2333700"/>
          </a:xfrm>
        </p:grpSpPr>
        <p:sp>
          <p:nvSpPr>
            <p:cNvPr id="380" name="Google Shape;380;p17"/>
            <p:cNvSpPr/>
            <p:nvPr/>
          </p:nvSpPr>
          <p:spPr>
            <a:xfrm>
              <a:off x="5905500" y="3857625"/>
              <a:ext cx="5715000" cy="2333700"/>
            </a:xfrm>
            <a:prstGeom prst="roundRect">
              <a:avLst>
                <a:gd fmla="val 4897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5905500" y="3857625"/>
              <a:ext cx="76200" cy="23337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 txBox="1"/>
            <p:nvPr/>
          </p:nvSpPr>
          <p:spPr>
            <a:xfrm>
              <a:off x="6143625" y="4000500"/>
              <a:ext cx="5238900" cy="20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r>
                <a:rPr lang="en-US">
                  <a:latin typeface="Play"/>
                  <a:ea typeface="Play"/>
                  <a:cs typeface="Play"/>
                  <a:sym typeface="Play"/>
                </a:rPr>
                <a:t> </a:t>
              </a: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Bad Evidence</a:t>
              </a:r>
              <a:endParaRPr>
                <a:latin typeface="Play"/>
                <a:ea typeface="Play"/>
                <a:cs typeface="Play"/>
                <a:sym typeface="Play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Play"/>
                <a:buChar char="●"/>
              </a:pPr>
              <a:r>
                <a:rPr lang="en-US"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“almost done”</a:t>
              </a:r>
              <a:endParaRPr sz="13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Play"/>
                <a:buChar char="●"/>
              </a:pPr>
              <a:r>
                <a:rPr lang="en-US"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“we talked”</a:t>
              </a:r>
              <a:endParaRPr sz="13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300"/>
                <a:buFont typeface="Play"/>
                <a:buChar char="●"/>
              </a:pPr>
              <a:r>
                <a:rPr lang="en-US"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“AI fixed it”</a:t>
              </a:r>
              <a:endParaRPr sz="13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CBD5E1"/>
                </a:buClr>
                <a:buSzPts val="1300"/>
                <a:buFont typeface="Play"/>
                <a:buChar char="●"/>
              </a:pPr>
              <a:r>
                <a:rPr lang="en-US" sz="13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• “on my laptop”</a:t>
              </a:r>
              <a:endParaRPr sz="13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83" name="Google Shape;383;p17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15/28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18"/>
          <p:cNvGrpSpPr/>
          <p:nvPr/>
        </p:nvGrpSpPr>
        <p:grpSpPr>
          <a:xfrm>
            <a:off x="476250" y="381000"/>
            <a:ext cx="11239500" cy="657225"/>
            <a:chOff x="476250" y="381000"/>
            <a:chExt cx="11239500" cy="657225"/>
          </a:xfrm>
        </p:grpSpPr>
        <p:sp>
          <p:nvSpPr>
            <p:cNvPr id="391" name="Google Shape;391;p18"/>
            <p:cNvSpPr txBox="1"/>
            <p:nvPr/>
          </p:nvSpPr>
          <p:spPr>
            <a:xfrm>
              <a:off x="476250" y="381000"/>
              <a:ext cx="1123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AI Use During QA</a:t>
              </a:r>
              <a:endParaRPr b="1" sz="3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476250" y="1000125"/>
              <a:ext cx="19050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18"/>
          <p:cNvGrpSpPr/>
          <p:nvPr/>
        </p:nvGrpSpPr>
        <p:grpSpPr>
          <a:xfrm>
            <a:off x="476250" y="1428750"/>
            <a:ext cx="5429400" cy="3333900"/>
            <a:chOff x="476250" y="1428750"/>
            <a:chExt cx="5429400" cy="3333900"/>
          </a:xfrm>
        </p:grpSpPr>
        <p:sp>
          <p:nvSpPr>
            <p:cNvPr id="394" name="Google Shape;394;p18"/>
            <p:cNvSpPr/>
            <p:nvPr/>
          </p:nvSpPr>
          <p:spPr>
            <a:xfrm>
              <a:off x="476250" y="1428750"/>
              <a:ext cx="5429400" cy="3333900"/>
            </a:xfrm>
            <a:prstGeom prst="roundRect">
              <a:avLst>
                <a:gd fmla="val 4571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476250" y="1428750"/>
              <a:ext cx="76200" cy="33339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8"/>
            <p:cNvSpPr txBox="1"/>
            <p:nvPr/>
          </p:nvSpPr>
          <p:spPr>
            <a:xfrm>
              <a:off x="762000" y="1619250"/>
              <a:ext cx="4857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1" lang="en-US" sz="2400">
                  <a:solidFill>
                    <a:srgbClr val="16A34A"/>
                  </a:solidFill>
                  <a:latin typeface="Play"/>
                  <a:ea typeface="Play"/>
                  <a:cs typeface="Play"/>
                  <a:sym typeface="Play"/>
                </a:rPr>
                <a:t> </a:t>
              </a:r>
              <a:r>
                <a:rPr b="1" lang="en-US" sz="2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AI can help:</a:t>
              </a:r>
              <a:endParaRPr b="1" sz="2400">
                <a:solidFill>
                  <a:srgbClr val="16A34A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Play"/>
                <a:buChar char="●"/>
              </a:pPr>
              <a:r>
                <a:rPr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suggest test cases</a:t>
              </a:r>
              <a:endParaRPr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Play"/>
                <a:buChar char="●"/>
              </a:pPr>
              <a:r>
                <a:rPr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explain errors</a:t>
              </a:r>
              <a:endParaRPr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Play"/>
                <a:buChar char="●"/>
              </a:pPr>
              <a:r>
                <a:rPr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draft bug reports</a:t>
              </a:r>
              <a:endParaRPr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Play"/>
                <a:buChar char="●"/>
              </a:pPr>
              <a:r>
                <a:rPr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review edge cases</a:t>
              </a:r>
              <a:endParaRPr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397" name="Google Shape;397;p18"/>
          <p:cNvGrpSpPr/>
          <p:nvPr/>
        </p:nvGrpSpPr>
        <p:grpSpPr>
          <a:xfrm>
            <a:off x="6286500" y="1428750"/>
            <a:ext cx="5429400" cy="3333900"/>
            <a:chOff x="6286500" y="1428750"/>
            <a:chExt cx="5429400" cy="3333900"/>
          </a:xfrm>
        </p:grpSpPr>
        <p:sp>
          <p:nvSpPr>
            <p:cNvPr id="398" name="Google Shape;398;p18"/>
            <p:cNvSpPr/>
            <p:nvPr/>
          </p:nvSpPr>
          <p:spPr>
            <a:xfrm>
              <a:off x="6286500" y="1428750"/>
              <a:ext cx="5429400" cy="3333900"/>
            </a:xfrm>
            <a:prstGeom prst="roundRect">
              <a:avLst>
                <a:gd fmla="val 4571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6286500" y="1428750"/>
              <a:ext cx="76200" cy="33339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8"/>
            <p:cNvSpPr txBox="1"/>
            <p:nvPr/>
          </p:nvSpPr>
          <p:spPr>
            <a:xfrm>
              <a:off x="6572250" y="1619250"/>
              <a:ext cx="4857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r>
                <a:rPr b="1" lang="en-US" sz="2400">
                  <a:solidFill>
                    <a:srgbClr val="DC2626"/>
                  </a:solidFill>
                  <a:latin typeface="Play"/>
                  <a:ea typeface="Play"/>
                  <a:cs typeface="Play"/>
                  <a:sym typeface="Play"/>
                </a:rPr>
                <a:t> </a:t>
              </a:r>
              <a:r>
                <a:rPr b="1" lang="en-US" sz="2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AI cannot replace:</a:t>
              </a:r>
              <a:endParaRPr b="1" sz="2400">
                <a:solidFill>
                  <a:srgbClr val="DC2626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Play"/>
                <a:buChar char="●"/>
              </a:pPr>
              <a:r>
                <a:rPr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running the app</a:t>
              </a:r>
              <a:endParaRPr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Play"/>
                <a:buChar char="●"/>
              </a:pPr>
              <a:r>
                <a:rPr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testing</a:t>
              </a:r>
              <a:endParaRPr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Play"/>
                <a:buChar char="●"/>
              </a:pPr>
              <a:r>
                <a:rPr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understanding</a:t>
              </a:r>
              <a:endParaRPr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800"/>
                <a:buFont typeface="Play"/>
                <a:buChar char="●"/>
              </a:pPr>
              <a:r>
                <a:rPr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evidence</a:t>
              </a:r>
              <a:endParaRPr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01" name="Google Shape;401;p18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16/28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19"/>
          <p:cNvGrpSpPr/>
          <p:nvPr/>
        </p:nvGrpSpPr>
        <p:grpSpPr>
          <a:xfrm>
            <a:off x="476250" y="381000"/>
            <a:ext cx="11239500" cy="657225"/>
            <a:chOff x="476250" y="381000"/>
            <a:chExt cx="11239500" cy="657225"/>
          </a:xfrm>
        </p:grpSpPr>
        <p:sp>
          <p:nvSpPr>
            <p:cNvPr id="408" name="Google Shape;408;p19"/>
            <p:cNvSpPr txBox="1"/>
            <p:nvPr/>
          </p:nvSpPr>
          <p:spPr>
            <a:xfrm>
              <a:off x="476250" y="381000"/>
              <a:ext cx="11239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Studio Block 1</a:t>
              </a:r>
              <a:endParaRPr b="1" sz="3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476250" y="1000125"/>
              <a:ext cx="1905000" cy="38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0" name="Google Shape;410;p19"/>
          <p:cNvGrpSpPr/>
          <p:nvPr/>
        </p:nvGrpSpPr>
        <p:grpSpPr>
          <a:xfrm>
            <a:off x="476250" y="1524000"/>
            <a:ext cx="7620000" cy="3810000"/>
            <a:chOff x="476250" y="1524000"/>
            <a:chExt cx="7620000" cy="3810000"/>
          </a:xfrm>
        </p:grpSpPr>
        <p:sp>
          <p:nvSpPr>
            <p:cNvPr id="411" name="Google Shape;411;p19"/>
            <p:cNvSpPr/>
            <p:nvPr/>
          </p:nvSpPr>
          <p:spPr>
            <a:xfrm>
              <a:off x="476250" y="1524000"/>
              <a:ext cx="7620000" cy="3810000"/>
            </a:xfrm>
            <a:prstGeom prst="roundRect">
              <a:avLst>
                <a:gd fmla="val 4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9"/>
            <p:cNvSpPr/>
            <p:nvPr/>
          </p:nvSpPr>
          <p:spPr>
            <a:xfrm>
              <a:off x="476250" y="1524000"/>
              <a:ext cx="76200" cy="38100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9"/>
            <p:cNvSpPr txBox="1"/>
            <p:nvPr/>
          </p:nvSpPr>
          <p:spPr>
            <a:xfrm>
              <a:off x="857250" y="1809750"/>
              <a:ext cx="6858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Task: Create the QA Checklist</a:t>
              </a:r>
              <a:endParaRPr b="1" sz="2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Output:</a:t>
              </a:r>
              <a:r>
                <a:rPr b="0"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 [Insert Checklist Reference]</a:t>
              </a:r>
              <a:endParaRPr b="0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A34A"/>
                  </a:solidFill>
                  <a:latin typeface="Play"/>
                  <a:ea typeface="Play"/>
                  <a:cs typeface="Play"/>
                  <a:sym typeface="Play"/>
                </a:rPr>
                <a:t>Easy Win:</a:t>
              </a:r>
              <a:endParaRPr b="1" sz="1800">
                <a:solidFill>
                  <a:srgbClr val="16A34A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-342900" lvl="0" marL="457200" rtl="0" algn="l">
                <a:spcBef>
                  <a:spcPts val="750"/>
                </a:spcBef>
                <a:spcAft>
                  <a:spcPts val="750"/>
                </a:spcAft>
                <a:buClr>
                  <a:srgbClr val="CBD5E1"/>
                </a:buClr>
                <a:buSzPts val="1800"/>
                <a:buFont typeface="Play"/>
                <a:buChar char="●"/>
              </a:pPr>
              <a:r>
                <a:rPr b="0"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Write the core MVP flow first.</a:t>
              </a:r>
              <a:endParaRPr b="0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pic>
        <p:nvPicPr>
          <p:cNvPr descr="A high-quality 3D render of a digital clipboard with a clean checklist, glowing checkmarks in orange and green, minimalist tech style, dark blue background." id="414" name="Google Shape;4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0" y="1524000"/>
            <a:ext cx="2857500" cy="3810000"/>
          </a:xfrm>
          <a:prstGeom prst="roundRect">
            <a:avLst>
              <a:gd fmla="val 5333" name="adj"/>
            </a:avLst>
          </a:prstGeom>
          <a:noFill/>
          <a:ln>
            <a:noFill/>
          </a:ln>
        </p:spPr>
      </p:pic>
      <p:sp>
        <p:nvSpPr>
          <p:cNvPr id="415" name="Google Shape;415;p19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17/28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oogle Shape;421;p20"/>
          <p:cNvGrpSpPr/>
          <p:nvPr/>
        </p:nvGrpSpPr>
        <p:grpSpPr>
          <a:xfrm>
            <a:off x="476250" y="381000"/>
            <a:ext cx="11239500" cy="657225"/>
            <a:chOff x="476250" y="381000"/>
            <a:chExt cx="11239500" cy="657225"/>
          </a:xfrm>
        </p:grpSpPr>
        <p:sp>
          <p:nvSpPr>
            <p:cNvPr id="422" name="Google Shape;422;p20"/>
            <p:cNvSpPr txBox="1"/>
            <p:nvPr/>
          </p:nvSpPr>
          <p:spPr>
            <a:xfrm>
              <a:off x="476250" y="381000"/>
              <a:ext cx="1123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Studio Block 2</a:t>
              </a:r>
              <a:endParaRPr b="1" sz="3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476250" y="1000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4" name="Google Shape;424;p20"/>
          <p:cNvGrpSpPr/>
          <p:nvPr/>
        </p:nvGrpSpPr>
        <p:grpSpPr>
          <a:xfrm>
            <a:off x="476250" y="1333500"/>
            <a:ext cx="3810000" cy="2286000"/>
            <a:chOff x="476250" y="1333500"/>
            <a:chExt cx="3810000" cy="2286000"/>
          </a:xfrm>
        </p:grpSpPr>
        <p:sp>
          <p:nvSpPr>
            <p:cNvPr id="425" name="Google Shape;425;p20"/>
            <p:cNvSpPr txBox="1"/>
            <p:nvPr/>
          </p:nvSpPr>
          <p:spPr>
            <a:xfrm>
              <a:off x="476250" y="133350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Run the Tests</a:t>
              </a:r>
              <a:endParaRPr b="1" sz="2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For each row in your checklist, complete every field. Precision is key for high-quality QA reporting.</a:t>
              </a:r>
              <a:endParaRPr b="0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426" name="Google Shape;426;p20"/>
            <p:cNvGrpSpPr/>
            <p:nvPr/>
          </p:nvGrpSpPr>
          <p:grpSpPr>
            <a:xfrm>
              <a:off x="476250" y="2857500"/>
              <a:ext cx="3810000" cy="762000"/>
              <a:chOff x="476250" y="2857500"/>
              <a:chExt cx="3810000" cy="762000"/>
            </a:xfrm>
          </p:grpSpPr>
          <p:sp>
            <p:nvSpPr>
              <p:cNvPr id="427" name="Google Shape;427;p20"/>
              <p:cNvSpPr/>
              <p:nvPr/>
            </p:nvSpPr>
            <p:spPr>
              <a:xfrm>
                <a:off x="476250" y="2857500"/>
                <a:ext cx="38100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334155">
                  <a:alpha val="30000"/>
                </a:srgbClr>
              </a:solidFill>
              <a:ln cap="flat" cmpd="sng" w="9525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0"/>
              <p:cNvSpPr txBox="1"/>
              <p:nvPr/>
            </p:nvSpPr>
            <p:spPr>
              <a:xfrm>
                <a:off x="619125" y="2857500"/>
                <a:ext cx="3524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59E0B"/>
                    </a:solidFill>
                    <a:latin typeface="Play"/>
                    <a:ea typeface="Play"/>
                    <a:cs typeface="Play"/>
                    <a:sym typeface="Play"/>
                  </a:rPr>
                  <a:t>CRITICAL: </a:t>
                </a:r>
                <a:r>
                  <a:rPr b="0" lang="en-US" sz="1400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Do not leave blanks. Every test must be documented.</a:t>
                </a:r>
                <a:endParaRPr b="1" sz="14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</p:grpSp>
      <p:grpSp>
        <p:nvGrpSpPr>
          <p:cNvPr id="429" name="Google Shape;429;p20"/>
          <p:cNvGrpSpPr/>
          <p:nvPr/>
        </p:nvGrpSpPr>
        <p:grpSpPr>
          <a:xfrm>
            <a:off x="4762500" y="1333500"/>
            <a:ext cx="6762750" cy="3238500"/>
            <a:chOff x="4762500" y="1333500"/>
            <a:chExt cx="6762750" cy="3238500"/>
          </a:xfrm>
        </p:grpSpPr>
        <p:sp>
          <p:nvSpPr>
            <p:cNvPr id="430" name="Google Shape;430;p20"/>
            <p:cNvSpPr/>
            <p:nvPr/>
          </p:nvSpPr>
          <p:spPr>
            <a:xfrm>
              <a:off x="4762500" y="1333500"/>
              <a:ext cx="3238500" cy="1524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4762500" y="1333500"/>
              <a:ext cx="76200" cy="15240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0"/>
            <p:cNvSpPr txBox="1"/>
            <p:nvPr/>
          </p:nvSpPr>
          <p:spPr>
            <a:xfrm>
              <a:off x="5000625" y="1476375"/>
              <a:ext cx="2762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 </a:t>
              </a: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expected result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What the feature should do according to requirements.</a:t>
              </a:r>
              <a:endParaRPr b="0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8286750" y="1333500"/>
              <a:ext cx="3238500" cy="1524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0"/>
            <p:cNvSpPr/>
            <p:nvPr/>
          </p:nvSpPr>
          <p:spPr>
            <a:xfrm>
              <a:off x="8286750" y="1333500"/>
              <a:ext cx="76200" cy="15240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0"/>
            <p:cNvSpPr txBox="1"/>
            <p:nvPr/>
          </p:nvSpPr>
          <p:spPr>
            <a:xfrm>
              <a:off x="8524875" y="1476375"/>
              <a:ext cx="2762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 </a:t>
              </a: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actual result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What actually happened when you performed the test.</a:t>
              </a:r>
              <a:endParaRPr b="0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4762500" y="3048000"/>
              <a:ext cx="3238500" cy="1524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4762500" y="3048000"/>
              <a:ext cx="76200" cy="15240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0"/>
            <p:cNvSpPr txBox="1"/>
            <p:nvPr/>
          </p:nvSpPr>
          <p:spPr>
            <a:xfrm>
              <a:off x="5000625" y="3190875"/>
              <a:ext cx="2762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thumbs_up_down </a:t>
              </a: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pass/fail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Binary outcome based on the comparison of results.</a:t>
              </a:r>
              <a:endParaRPr b="0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8286750" y="3048000"/>
              <a:ext cx="3238500" cy="1524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8286750" y="3048000"/>
              <a:ext cx="76200" cy="15240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0"/>
            <p:cNvSpPr txBox="1"/>
            <p:nvPr/>
          </p:nvSpPr>
          <p:spPr>
            <a:xfrm>
              <a:off x="8524875" y="3190875"/>
              <a:ext cx="2762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attachment </a:t>
              </a: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evidence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Play"/>
                  <a:ea typeface="Play"/>
                  <a:cs typeface="Play"/>
                  <a:sym typeface="Play"/>
                </a:rPr>
                <a:t>Screenshots, logs, or recordings proving the result.</a:t>
              </a:r>
              <a:endParaRPr b="0" sz="14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pic>
        <p:nvPicPr>
          <p:cNvPr descr="A high-tech digital workspace showing a QA testing dashboard with glowing data lines, checkmarks, and abstract bug icons, minimalist 3D style, dark blue and amber color palette." id="442" name="Google Shape;442;p20"/>
          <p:cNvPicPr preferRelativeResize="0"/>
          <p:nvPr/>
        </p:nvPicPr>
        <p:blipFill rotWithShape="1">
          <a:blip r:embed="rId3">
            <a:alphaModFix/>
          </a:blip>
          <a:srcRect b="5556" l="0" r="0" t="5556"/>
          <a:stretch/>
        </p:blipFill>
        <p:spPr>
          <a:xfrm>
            <a:off x="476250" y="4000500"/>
            <a:ext cx="3810000" cy="19050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43" name="Google Shape;443;p20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18/28</a:t>
            </a:r>
            <a:endParaRPr b="0" i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21"/>
          <p:cNvPicPr preferRelativeResize="0"/>
          <p:nvPr/>
        </p:nvPicPr>
        <p:blipFill rotWithShape="1">
          <a:blip r:embed="rId3">
            <a:alphaModFix/>
          </a:blip>
          <a:srcRect b="0" l="20104" r="20098" t="0"/>
          <a:stretch/>
        </p:blipFill>
        <p:spPr>
          <a:xfrm>
            <a:off x="6858000" y="1333500"/>
            <a:ext cx="4857900" cy="457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" name="Google Shape;450;p21"/>
          <p:cNvGrpSpPr/>
          <p:nvPr/>
        </p:nvGrpSpPr>
        <p:grpSpPr>
          <a:xfrm>
            <a:off x="476250" y="381000"/>
            <a:ext cx="11239500" cy="657225"/>
            <a:chOff x="476250" y="381000"/>
            <a:chExt cx="11239500" cy="657225"/>
          </a:xfrm>
        </p:grpSpPr>
        <p:sp>
          <p:nvSpPr>
            <p:cNvPr id="451" name="Google Shape;451;p21"/>
            <p:cNvSpPr txBox="1"/>
            <p:nvPr/>
          </p:nvSpPr>
          <p:spPr>
            <a:xfrm>
              <a:off x="476250" y="381000"/>
              <a:ext cx="1123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Studio Block 3</a:t>
              </a:r>
              <a:endParaRPr b="1" sz="3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2" name="Google Shape;452;p21"/>
            <p:cNvSpPr/>
            <p:nvPr/>
          </p:nvSpPr>
          <p:spPr>
            <a:xfrm>
              <a:off x="476250" y="1000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3" name="Google Shape;453;p21"/>
          <p:cNvSpPr txBox="1"/>
          <p:nvPr/>
        </p:nvSpPr>
        <p:spPr>
          <a:xfrm>
            <a:off x="476250" y="1333500"/>
            <a:ext cx="6000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Bug Triage Process</a:t>
            </a:r>
            <a:endParaRPr b="1" sz="154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For each failed test, follow these essential steps to ensure comprehensive QA reporting and resolution tracking.</a:t>
            </a:r>
            <a:endParaRPr b="0" sz="990">
              <a:solidFill>
                <a:srgbClr val="CBD5E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priority_high</a:t>
            </a:r>
            <a:endParaRPr sz="770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Assign Severity</a:t>
            </a:r>
            <a:endParaRPr b="1" sz="99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Define the impact level (P1-P4).</a:t>
            </a:r>
            <a:endParaRPr sz="715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add_task</a:t>
            </a:r>
            <a:endParaRPr sz="770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Create Issue</a:t>
            </a:r>
            <a:endParaRPr b="1" sz="99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Log a formal ticket in the tracking system.</a:t>
            </a:r>
            <a:endParaRPr sz="715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person_add</a:t>
            </a:r>
            <a:endParaRPr sz="770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Assign Owner</a:t>
            </a:r>
            <a:endParaRPr b="1" sz="99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Identify the developer responsible for the fix.</a:t>
            </a:r>
            <a:endParaRPr sz="715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link</a:t>
            </a:r>
            <a:endParaRPr sz="770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Link Evidence</a:t>
            </a:r>
            <a:endParaRPr b="1" sz="99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Attach screenshots, logs, or recordings.</a:t>
            </a:r>
            <a:endParaRPr sz="715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dashboard_customize</a:t>
            </a:r>
            <a:endParaRPr sz="770"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Update Board</a:t>
            </a:r>
            <a:endParaRPr b="1" sz="99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5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Ensure status reflects current triage state.</a:t>
            </a:r>
            <a:endParaRPr sz="715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19/28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2"/>
          <p:cNvGrpSpPr/>
          <p:nvPr/>
        </p:nvGrpSpPr>
        <p:grpSpPr>
          <a:xfrm>
            <a:off x="476250" y="381000"/>
            <a:ext cx="11239500" cy="657225"/>
            <a:chOff x="476250" y="381000"/>
            <a:chExt cx="11239500" cy="657225"/>
          </a:xfrm>
        </p:grpSpPr>
        <p:sp>
          <p:nvSpPr>
            <p:cNvPr id="461" name="Google Shape;461;p22"/>
            <p:cNvSpPr txBox="1"/>
            <p:nvPr/>
          </p:nvSpPr>
          <p:spPr>
            <a:xfrm>
              <a:off x="476250" y="381000"/>
              <a:ext cx="1123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Studio Block 4</a:t>
              </a:r>
              <a:endParaRPr b="1" sz="3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476250" y="1000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22"/>
          <p:cNvSpPr txBox="1"/>
          <p:nvPr/>
        </p:nvSpPr>
        <p:spPr>
          <a:xfrm>
            <a:off x="476250" y="1333500"/>
            <a:ext cx="428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Prepare Friday Sprint Packet</a:t>
            </a:r>
            <a:endParaRPr b="1" sz="24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Your final submission must contain the following verified components.</a:t>
            </a:r>
            <a:endParaRPr b="0" sz="1800">
              <a:solidFill>
                <a:srgbClr val="CBD5E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464" name="Google Shape;464;p22"/>
          <p:cNvGrpSpPr/>
          <p:nvPr/>
        </p:nvGrpSpPr>
        <p:grpSpPr>
          <a:xfrm>
            <a:off x="5048250" y="1333500"/>
            <a:ext cx="6667500" cy="3524400"/>
            <a:chOff x="5048250" y="1333500"/>
            <a:chExt cx="6667500" cy="3524400"/>
          </a:xfrm>
        </p:grpSpPr>
        <p:grpSp>
          <p:nvGrpSpPr>
            <p:cNvPr id="465" name="Google Shape;465;p22"/>
            <p:cNvGrpSpPr/>
            <p:nvPr/>
          </p:nvGrpSpPr>
          <p:grpSpPr>
            <a:xfrm>
              <a:off x="5048250" y="1333500"/>
              <a:ext cx="3238500" cy="1047900"/>
              <a:chOff x="5048250" y="1333500"/>
              <a:chExt cx="3238500" cy="1047900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5048250" y="1333500"/>
                <a:ext cx="3238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5048250" y="1333500"/>
                <a:ext cx="762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16A3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2"/>
              <p:cNvSpPr txBox="1"/>
              <p:nvPr/>
            </p:nvSpPr>
            <p:spPr>
              <a:xfrm>
                <a:off x="5286375" y="1476375"/>
                <a:ext cx="2762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 </a:t>
                </a:r>
                <a:r>
                  <a:rPr b="1" lang="en-US" sz="1600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QA checklist link</a:t>
                </a:r>
                <a:endParaRPr b="0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Direct access to the completed testing log.</a:t>
                </a:r>
                <a:endParaRPr b="0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  <p:grpSp>
          <p:nvGrpSpPr>
            <p:cNvPr id="469" name="Google Shape;469;p22"/>
            <p:cNvGrpSpPr/>
            <p:nvPr/>
          </p:nvGrpSpPr>
          <p:grpSpPr>
            <a:xfrm>
              <a:off x="8477250" y="1333500"/>
              <a:ext cx="3238500" cy="1047900"/>
              <a:chOff x="8477250" y="1333500"/>
              <a:chExt cx="3238500" cy="1047900"/>
            </a:xfrm>
          </p:grpSpPr>
          <p:sp>
            <p:nvSpPr>
              <p:cNvPr id="470" name="Google Shape;470;p22"/>
              <p:cNvSpPr/>
              <p:nvPr/>
            </p:nvSpPr>
            <p:spPr>
              <a:xfrm>
                <a:off x="8477250" y="1333500"/>
                <a:ext cx="3238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2"/>
              <p:cNvSpPr/>
              <p:nvPr/>
            </p:nvSpPr>
            <p:spPr>
              <a:xfrm>
                <a:off x="8477250" y="1333500"/>
                <a:ext cx="762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16A3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2"/>
              <p:cNvSpPr txBox="1"/>
              <p:nvPr/>
            </p:nvSpPr>
            <p:spPr>
              <a:xfrm>
                <a:off x="8715375" y="1476375"/>
                <a:ext cx="2762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report_problem </a:t>
                </a:r>
                <a:r>
                  <a:rPr b="1" lang="en-US" sz="1600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bug severity list</a:t>
                </a:r>
                <a:endParaRPr b="0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P1-P4 breakdown of all identified issues.</a:t>
                </a:r>
                <a:endParaRPr b="0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  <p:grpSp>
          <p:nvGrpSpPr>
            <p:cNvPr id="473" name="Google Shape;473;p22"/>
            <p:cNvGrpSpPr/>
            <p:nvPr/>
          </p:nvGrpSpPr>
          <p:grpSpPr>
            <a:xfrm>
              <a:off x="5048250" y="2571750"/>
              <a:ext cx="3238500" cy="1047900"/>
              <a:chOff x="5048250" y="2571750"/>
              <a:chExt cx="3238500" cy="1047900"/>
            </a:xfrm>
          </p:grpSpPr>
          <p:sp>
            <p:nvSpPr>
              <p:cNvPr id="474" name="Google Shape;474;p22"/>
              <p:cNvSpPr/>
              <p:nvPr/>
            </p:nvSpPr>
            <p:spPr>
              <a:xfrm>
                <a:off x="5048250" y="2571750"/>
                <a:ext cx="3238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2"/>
              <p:cNvSpPr/>
              <p:nvPr/>
            </p:nvSpPr>
            <p:spPr>
              <a:xfrm>
                <a:off x="5048250" y="2571750"/>
                <a:ext cx="762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16A3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2"/>
              <p:cNvSpPr txBox="1"/>
              <p:nvPr/>
            </p:nvSpPr>
            <p:spPr>
              <a:xfrm>
                <a:off x="5286375" y="2714625"/>
                <a:ext cx="2762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22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camera_alt </a:t>
                </a:r>
                <a:r>
                  <a:rPr b="1" lang="en-US" sz="1480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board snapshot</a:t>
                </a:r>
                <a:endParaRPr b="0" sz="222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018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Visual capture of the current sprint board status.</a:t>
                </a:r>
                <a:endParaRPr b="0" sz="1018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  <p:grpSp>
          <p:nvGrpSpPr>
            <p:cNvPr id="477" name="Google Shape;477;p22"/>
            <p:cNvGrpSpPr/>
            <p:nvPr/>
          </p:nvGrpSpPr>
          <p:grpSpPr>
            <a:xfrm>
              <a:off x="8477250" y="2571750"/>
              <a:ext cx="3238500" cy="1047900"/>
              <a:chOff x="8477250" y="2571750"/>
              <a:chExt cx="3238500" cy="1047900"/>
            </a:xfrm>
          </p:grpSpPr>
          <p:sp>
            <p:nvSpPr>
              <p:cNvPr id="478" name="Google Shape;478;p22"/>
              <p:cNvSpPr/>
              <p:nvPr/>
            </p:nvSpPr>
            <p:spPr>
              <a:xfrm>
                <a:off x="8477250" y="2571750"/>
                <a:ext cx="3238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2"/>
              <p:cNvSpPr/>
              <p:nvPr/>
            </p:nvSpPr>
            <p:spPr>
              <a:xfrm>
                <a:off x="8477250" y="2571750"/>
                <a:ext cx="762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16A3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2"/>
              <p:cNvSpPr txBox="1"/>
              <p:nvPr/>
            </p:nvSpPr>
            <p:spPr>
              <a:xfrm>
                <a:off x="8715375" y="2714625"/>
                <a:ext cx="2762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attachment </a:t>
                </a:r>
                <a:r>
                  <a:rPr b="1" lang="en-US" sz="1600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testing evidence</a:t>
                </a:r>
                <a:endParaRPr b="0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Logs, recordings, and validated results.</a:t>
                </a:r>
                <a:endParaRPr b="0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>
              <a:off x="5048250" y="3810000"/>
              <a:ext cx="3238500" cy="1047900"/>
              <a:chOff x="5048250" y="3810000"/>
              <a:chExt cx="3238500" cy="1047900"/>
            </a:xfrm>
          </p:grpSpPr>
          <p:sp>
            <p:nvSpPr>
              <p:cNvPr id="482" name="Google Shape;482;p22"/>
              <p:cNvSpPr/>
              <p:nvPr/>
            </p:nvSpPr>
            <p:spPr>
              <a:xfrm>
                <a:off x="5048250" y="3810000"/>
                <a:ext cx="3238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2"/>
              <p:cNvSpPr/>
              <p:nvPr/>
            </p:nvSpPr>
            <p:spPr>
              <a:xfrm>
                <a:off x="5048250" y="3810000"/>
                <a:ext cx="762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2"/>
              <p:cNvSpPr txBox="1"/>
              <p:nvPr/>
            </p:nvSpPr>
            <p:spPr>
              <a:xfrm>
                <a:off x="5286375" y="3952875"/>
                <a:ext cx="2762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400">
                    <a:solidFill>
                      <a:srgbClr val="F59E0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 </a:t>
                </a:r>
                <a:r>
                  <a:rPr b="1" lang="en-US" sz="1600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AI ownership check</a:t>
                </a:r>
                <a:endParaRPr b="0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Mandatory disclosure of AI tool usage.</a:t>
                </a:r>
                <a:endParaRPr b="0" sz="1100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  <p:grpSp>
          <p:nvGrpSpPr>
            <p:cNvPr id="485" name="Google Shape;485;p22"/>
            <p:cNvGrpSpPr/>
            <p:nvPr/>
          </p:nvGrpSpPr>
          <p:grpSpPr>
            <a:xfrm>
              <a:off x="8477250" y="3810000"/>
              <a:ext cx="3238500" cy="1047900"/>
              <a:chOff x="8477250" y="3810000"/>
              <a:chExt cx="3238500" cy="1047900"/>
            </a:xfrm>
          </p:grpSpPr>
          <p:sp>
            <p:nvSpPr>
              <p:cNvPr id="486" name="Google Shape;486;p22"/>
              <p:cNvSpPr/>
              <p:nvPr/>
            </p:nvSpPr>
            <p:spPr>
              <a:xfrm>
                <a:off x="8477250" y="3810000"/>
                <a:ext cx="3238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2"/>
              <p:cNvSpPr/>
              <p:nvPr/>
            </p:nvSpPr>
            <p:spPr>
              <a:xfrm>
                <a:off x="8477250" y="3810000"/>
                <a:ext cx="762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2"/>
              <p:cNvSpPr txBox="1"/>
              <p:nvPr/>
            </p:nvSpPr>
            <p:spPr>
              <a:xfrm>
                <a:off x="8715375" y="3952875"/>
                <a:ext cx="27624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220">
                    <a:solidFill>
                      <a:srgbClr val="F59E0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receipt_long </a:t>
                </a:r>
                <a:r>
                  <a:rPr b="1" lang="en-US" sz="1480">
                    <a:solidFill>
                      <a:srgbClr val="F8FAFC"/>
                    </a:solidFill>
                    <a:latin typeface="Play"/>
                    <a:ea typeface="Play"/>
                    <a:cs typeface="Play"/>
                    <a:sym typeface="Play"/>
                  </a:rPr>
                  <a:t>individual receipts</a:t>
                </a:r>
                <a:endParaRPr b="0" sz="222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018">
                    <a:solidFill>
                      <a:srgbClr val="94A3B8"/>
                    </a:solidFill>
                    <a:latin typeface="Play"/>
                    <a:ea typeface="Play"/>
                    <a:cs typeface="Play"/>
                    <a:sym typeface="Play"/>
                  </a:rPr>
                  <a:t>Proof of contribution from each team member.</a:t>
                </a:r>
                <a:endParaRPr b="0" sz="1018">
                  <a:solidFill>
                    <a:srgbClr val="94A3B8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</p:grpSp>
      <p:pic>
        <p:nvPicPr>
          <p:cNvPr descr="A sleek, minimalist overhead shot of a physical folder labeled &quot;Sprint Packet&quot; next to a tablet showing a green checkmark dashboard, professional office lighting, blue and amber tones." id="489" name="Google Shape;489;p22"/>
          <p:cNvPicPr preferRelativeResize="0"/>
          <p:nvPr/>
        </p:nvPicPr>
        <p:blipFill rotWithShape="1">
          <a:blip r:embed="rId3">
            <a:alphaModFix/>
          </a:blip>
          <a:srcRect b="0" l="5004" r="4995" t="0"/>
          <a:stretch/>
        </p:blipFill>
        <p:spPr>
          <a:xfrm>
            <a:off x="476250" y="2476500"/>
            <a:ext cx="3810000" cy="2381400"/>
          </a:xfrm>
          <a:prstGeom prst="roundRect">
            <a:avLst>
              <a:gd fmla="val 6400" name="adj"/>
            </a:avLst>
          </a:prstGeom>
          <a:noFill/>
          <a:ln>
            <a:noFill/>
          </a:ln>
        </p:spPr>
      </p:pic>
      <p:sp>
        <p:nvSpPr>
          <p:cNvPr id="490" name="Google Shape;490;p22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20/28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23"/>
          <p:cNvGrpSpPr/>
          <p:nvPr/>
        </p:nvGrpSpPr>
        <p:grpSpPr>
          <a:xfrm>
            <a:off x="476250" y="381000"/>
            <a:ext cx="11239500" cy="657225"/>
            <a:chOff x="476250" y="381000"/>
            <a:chExt cx="11239500" cy="657225"/>
          </a:xfrm>
        </p:grpSpPr>
        <p:sp>
          <p:nvSpPr>
            <p:cNvPr id="497" name="Google Shape;497;p23"/>
            <p:cNvSpPr txBox="1"/>
            <p:nvPr/>
          </p:nvSpPr>
          <p:spPr>
            <a:xfrm>
              <a:off x="476250" y="381000"/>
              <a:ext cx="11239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What Good Looks Like</a:t>
              </a:r>
              <a:endParaRPr b="1" sz="3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476250" y="1000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" name="Google Shape;499;p23"/>
          <p:cNvGrpSpPr/>
          <p:nvPr/>
        </p:nvGrpSpPr>
        <p:grpSpPr>
          <a:xfrm>
            <a:off x="476250" y="1333500"/>
            <a:ext cx="11239500" cy="4572000"/>
            <a:chOff x="476250" y="1333500"/>
            <a:chExt cx="11239500" cy="4572000"/>
          </a:xfrm>
        </p:grpSpPr>
        <p:sp>
          <p:nvSpPr>
            <p:cNvPr id="500" name="Google Shape;500;p23"/>
            <p:cNvSpPr txBox="1"/>
            <p:nvPr/>
          </p:nvSpPr>
          <p:spPr>
            <a:xfrm>
              <a:off x="476250" y="1333500"/>
              <a:ext cx="47625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 good team can say:</a:t>
              </a:r>
              <a:endParaRPr b="1" sz="2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F8FAFC"/>
                  </a:solidFill>
                  <a:highlight>
                    <a:srgbClr val="1E293B"/>
                  </a:highlight>
                  <a:latin typeface="Play"/>
                  <a:ea typeface="Play"/>
                  <a:cs typeface="Play"/>
                  <a:sym typeface="Play"/>
                </a:rPr>
                <a:t>"We tested our main flow, found 1 P1 and 3 P2 bugs, created Issues, assigned owners, and linked evidence."</a:t>
              </a:r>
              <a:endParaRPr i="1" sz="1800">
                <a:solidFill>
                  <a:srgbClr val="F8FAFC"/>
                </a:solidFill>
                <a:highlight>
                  <a:srgbClr val="1E293B"/>
                </a:highlight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That is professional progress.</a:t>
              </a:r>
              <a:endParaRPr b="1" sz="20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501" name="Google Shape;501;p23"/>
            <p:cNvGrpSpPr/>
            <p:nvPr/>
          </p:nvGrpSpPr>
          <p:grpSpPr>
            <a:xfrm>
              <a:off x="6000750" y="1476375"/>
              <a:ext cx="5715000" cy="4286400"/>
              <a:chOff x="6000750" y="1476375"/>
              <a:chExt cx="5715000" cy="4286400"/>
            </a:xfrm>
          </p:grpSpPr>
          <p:pic>
            <p:nvPicPr>
              <p:cNvPr descr="A professional, high-quality digital illustration of a software development team dashboard showing green checkmarks, bug reports with clear status labels, and organized progress charts, in a dark corporate style with blue and amber accents." id="502" name="Google Shape;502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000750" y="1476375"/>
                <a:ext cx="5715000" cy="4286400"/>
              </a:xfrm>
              <a:prstGeom prst="roundRect">
                <a:avLst>
                  <a:gd fmla="val 4444" name="adj"/>
                </a:avLst>
              </a:prstGeom>
              <a:noFill/>
              <a:ln>
                <a:noFill/>
              </a:ln>
            </p:spPr>
          </p:pic>
          <p:sp>
            <p:nvSpPr>
              <p:cNvPr id="503" name="Google Shape;503;p23"/>
              <p:cNvSpPr/>
              <p:nvPr/>
            </p:nvSpPr>
            <p:spPr>
              <a:xfrm>
                <a:off x="6000750" y="1476375"/>
                <a:ext cx="5715000" cy="4286400"/>
              </a:xfrm>
              <a:prstGeom prst="roundRect">
                <a:avLst>
                  <a:gd fmla="val 4444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4755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4" name="Google Shape;504;p23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21/28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4"/>
          <p:cNvGrpSpPr/>
          <p:nvPr/>
        </p:nvGrpSpPr>
        <p:grpSpPr>
          <a:xfrm>
            <a:off x="476250" y="381000"/>
            <a:ext cx="11239500" cy="657225"/>
            <a:chOff x="476250" y="381000"/>
            <a:chExt cx="11239500" cy="657225"/>
          </a:xfrm>
        </p:grpSpPr>
        <p:sp>
          <p:nvSpPr>
            <p:cNvPr id="511" name="Google Shape;511;p24"/>
            <p:cNvSpPr txBox="1"/>
            <p:nvPr/>
          </p:nvSpPr>
          <p:spPr>
            <a:xfrm>
              <a:off x="476250" y="381000"/>
              <a:ext cx="1123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Common Mistakes</a:t>
              </a:r>
              <a:endParaRPr b="1" sz="3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476250" y="1000125"/>
              <a:ext cx="1905000" cy="38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" name="Google Shape;513;p24"/>
          <p:cNvSpPr txBox="1"/>
          <p:nvPr/>
        </p:nvSpPr>
        <p:spPr>
          <a:xfrm>
            <a:off x="476250" y="1333500"/>
            <a:ext cx="523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Avoid these common pitfalls during QA:</a:t>
            </a:r>
            <a:endParaRPr b="0" sz="2000">
              <a:solidFill>
                <a:srgbClr val="CBD5E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514" name="Google Shape;514;p24"/>
          <p:cNvGrpSpPr/>
          <p:nvPr/>
        </p:nvGrpSpPr>
        <p:grpSpPr>
          <a:xfrm>
            <a:off x="476250" y="1905000"/>
            <a:ext cx="5238900" cy="701952"/>
            <a:chOff x="476250" y="1905000"/>
            <a:chExt cx="5238900" cy="701952"/>
          </a:xfrm>
        </p:grpSpPr>
        <p:sp>
          <p:nvSpPr>
            <p:cNvPr id="515" name="Google Shape;515;p24"/>
            <p:cNvSpPr/>
            <p:nvPr/>
          </p:nvSpPr>
          <p:spPr>
            <a:xfrm>
              <a:off x="476250" y="1905000"/>
              <a:ext cx="5238900" cy="666900"/>
            </a:xfrm>
            <a:prstGeom prst="roundRect">
              <a:avLst>
                <a:gd fmla="val 14285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476250" y="1905000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4"/>
            <p:cNvSpPr txBox="1"/>
            <p:nvPr/>
          </p:nvSpPr>
          <p:spPr>
            <a:xfrm>
              <a:off x="714375" y="1905000"/>
              <a:ext cx="476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adding features before testing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18" name="Google Shape;518;p24"/>
            <p:cNvSpPr txBox="1"/>
            <p:nvPr/>
          </p:nvSpPr>
          <p:spPr>
            <a:xfrm>
              <a:off x="5000625" y="1940052"/>
              <a:ext cx="571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2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19" name="Google Shape;519;p24"/>
          <p:cNvGrpSpPr/>
          <p:nvPr/>
        </p:nvGrpSpPr>
        <p:grpSpPr>
          <a:xfrm>
            <a:off x="476250" y="2714625"/>
            <a:ext cx="5238900" cy="666900"/>
            <a:chOff x="476250" y="2714625"/>
            <a:chExt cx="5238900" cy="666900"/>
          </a:xfrm>
        </p:grpSpPr>
        <p:sp>
          <p:nvSpPr>
            <p:cNvPr id="520" name="Google Shape;520;p24"/>
            <p:cNvSpPr/>
            <p:nvPr/>
          </p:nvSpPr>
          <p:spPr>
            <a:xfrm>
              <a:off x="476250" y="2714625"/>
              <a:ext cx="5238900" cy="666900"/>
            </a:xfrm>
            <a:prstGeom prst="roundRect">
              <a:avLst>
                <a:gd fmla="val 14285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476250" y="2714625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4"/>
            <p:cNvSpPr txBox="1"/>
            <p:nvPr/>
          </p:nvSpPr>
          <p:spPr>
            <a:xfrm>
              <a:off x="714375" y="2714625"/>
              <a:ext cx="476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vague “bug fixing” &amp; no screenshots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523" name="Google Shape;523;p24"/>
          <p:cNvGrpSpPr/>
          <p:nvPr/>
        </p:nvGrpSpPr>
        <p:grpSpPr>
          <a:xfrm>
            <a:off x="476250" y="3524250"/>
            <a:ext cx="5238900" cy="666900"/>
            <a:chOff x="476250" y="3524250"/>
            <a:chExt cx="5238900" cy="666900"/>
          </a:xfrm>
        </p:grpSpPr>
        <p:sp>
          <p:nvSpPr>
            <p:cNvPr id="524" name="Google Shape;524;p24"/>
            <p:cNvSpPr/>
            <p:nvPr/>
          </p:nvSpPr>
          <p:spPr>
            <a:xfrm>
              <a:off x="476250" y="3524250"/>
              <a:ext cx="5238900" cy="666900"/>
            </a:xfrm>
            <a:prstGeom prst="roundRect">
              <a:avLst>
                <a:gd fmla="val 14285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476250" y="3524250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4"/>
            <p:cNvSpPr txBox="1"/>
            <p:nvPr/>
          </p:nvSpPr>
          <p:spPr>
            <a:xfrm>
              <a:off x="714375" y="3524250"/>
              <a:ext cx="476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missing owners or Issue links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527" name="Google Shape;527;p24"/>
          <p:cNvGrpSpPr/>
          <p:nvPr/>
        </p:nvGrpSpPr>
        <p:grpSpPr>
          <a:xfrm>
            <a:off x="476250" y="4333875"/>
            <a:ext cx="5238900" cy="666900"/>
            <a:chOff x="476250" y="4333875"/>
            <a:chExt cx="5238900" cy="666900"/>
          </a:xfrm>
        </p:grpSpPr>
        <p:sp>
          <p:nvSpPr>
            <p:cNvPr id="528" name="Google Shape;528;p24"/>
            <p:cNvSpPr/>
            <p:nvPr/>
          </p:nvSpPr>
          <p:spPr>
            <a:xfrm>
              <a:off x="476250" y="4333875"/>
              <a:ext cx="5238900" cy="666900"/>
            </a:xfrm>
            <a:prstGeom prst="roundRect">
              <a:avLst>
                <a:gd fmla="val 14285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476250" y="4333875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4"/>
            <p:cNvSpPr txBox="1"/>
            <p:nvPr/>
          </p:nvSpPr>
          <p:spPr>
            <a:xfrm>
              <a:off x="714375" y="4333875"/>
              <a:ext cx="476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no AI-use note or receipts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31" name="Google Shape;531;p24"/>
          <p:cNvSpPr txBox="1"/>
          <p:nvPr/>
        </p:nvSpPr>
        <p:spPr>
          <a:xfrm>
            <a:off x="476250" y="5238750"/>
            <a:ext cx="5238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These are fixable. Fix them today.</a:t>
            </a:r>
            <a:endParaRPr b="1" sz="2200">
              <a:solidFill>
                <a:srgbClr val="F59E0B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532" name="Google Shape;532;p24"/>
          <p:cNvPicPr preferRelativeResize="0"/>
          <p:nvPr/>
        </p:nvPicPr>
        <p:blipFill rotWithShape="1">
          <a:blip r:embed="rId3">
            <a:alphaModFix/>
          </a:blip>
          <a:srcRect b="0" l="16229" r="16236" t="0"/>
          <a:stretch/>
        </p:blipFill>
        <p:spPr>
          <a:xfrm>
            <a:off x="6000750" y="1333500"/>
            <a:ext cx="5715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4"/>
          <p:cNvSpPr/>
          <p:nvPr/>
        </p:nvSpPr>
        <p:spPr>
          <a:xfrm>
            <a:off x="6000750" y="1333500"/>
            <a:ext cx="5715000" cy="4762500"/>
          </a:xfrm>
          <a:prstGeom prst="roundRect">
            <a:avLst>
              <a:gd fmla="val 4000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4"/>
          <p:cNvSpPr txBox="1"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22/28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5"/>
          <p:cNvSpPr/>
          <p:nvPr/>
        </p:nvSpPr>
        <p:spPr>
          <a:xfrm>
            <a:off x="476250" y="381000"/>
            <a:ext cx="1123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Exit Checkpoint</a:t>
            </a:r>
            <a:endParaRPr b="1" sz="36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541" name="Google Shape;541;p25"/>
          <p:cNvCxnSpPr/>
          <p:nvPr/>
        </p:nvCxnSpPr>
        <p:spPr>
          <a:xfrm>
            <a:off x="476250" y="1000125"/>
            <a:ext cx="19050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25"/>
          <p:cNvSpPr txBox="1"/>
          <p:nvPr/>
        </p:nvSpPr>
        <p:spPr>
          <a:xfrm>
            <a:off x="476250" y="1333500"/>
            <a:ext cx="1123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CBD5E1"/>
                </a:solidFill>
                <a:latin typeface="Play"/>
                <a:ea typeface="Play"/>
                <a:cs typeface="Play"/>
                <a:sym typeface="Play"/>
              </a:rPr>
              <a:t>Complete these tasks before you leave today:</a:t>
            </a:r>
            <a:endParaRPr b="0" sz="2000">
              <a:solidFill>
                <a:srgbClr val="CBD5E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543" name="Google Shape;543;p25"/>
          <p:cNvGrpSpPr/>
          <p:nvPr/>
        </p:nvGrpSpPr>
        <p:grpSpPr>
          <a:xfrm>
            <a:off x="476250" y="2000250"/>
            <a:ext cx="5429400" cy="797052"/>
            <a:chOff x="476250" y="2000250"/>
            <a:chExt cx="5429400" cy="797052"/>
          </a:xfrm>
        </p:grpSpPr>
        <p:sp>
          <p:nvSpPr>
            <p:cNvPr id="544" name="Google Shape;544;p25"/>
            <p:cNvSpPr/>
            <p:nvPr/>
          </p:nvSpPr>
          <p:spPr>
            <a:xfrm>
              <a:off x="476250" y="2000250"/>
              <a:ext cx="54294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5"/>
            <p:cNvSpPr/>
            <p:nvPr/>
          </p:nvSpPr>
          <p:spPr>
            <a:xfrm>
              <a:off x="476250" y="2000250"/>
              <a:ext cx="76200" cy="7620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5"/>
            <p:cNvSpPr txBox="1"/>
            <p:nvPr/>
          </p:nvSpPr>
          <p:spPr>
            <a:xfrm>
              <a:off x="714375" y="2000250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QA checklist exists</a:t>
              </a:r>
              <a:endParaRPr b="1" sz="1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47" name="Google Shape;547;p25"/>
            <p:cNvSpPr txBox="1"/>
            <p:nvPr/>
          </p:nvSpPr>
          <p:spPr>
            <a:xfrm>
              <a:off x="5191125" y="2035302"/>
              <a:ext cx="57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check_box_outline_blank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48" name="Google Shape;548;p25"/>
          <p:cNvGrpSpPr/>
          <p:nvPr/>
        </p:nvGrpSpPr>
        <p:grpSpPr>
          <a:xfrm>
            <a:off x="6286500" y="2000250"/>
            <a:ext cx="5429400" cy="797052"/>
            <a:chOff x="6286500" y="2000250"/>
            <a:chExt cx="5429400" cy="797052"/>
          </a:xfrm>
        </p:grpSpPr>
        <p:sp>
          <p:nvSpPr>
            <p:cNvPr id="549" name="Google Shape;549;p25"/>
            <p:cNvSpPr/>
            <p:nvPr/>
          </p:nvSpPr>
          <p:spPr>
            <a:xfrm>
              <a:off x="6286500" y="2000250"/>
              <a:ext cx="54294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5"/>
            <p:cNvSpPr/>
            <p:nvPr/>
          </p:nvSpPr>
          <p:spPr>
            <a:xfrm>
              <a:off x="6286500" y="2000250"/>
              <a:ext cx="76200" cy="7620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5"/>
            <p:cNvSpPr txBox="1"/>
            <p:nvPr/>
          </p:nvSpPr>
          <p:spPr>
            <a:xfrm>
              <a:off x="6524625" y="2000250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8+ tests written</a:t>
              </a:r>
              <a:endParaRPr b="1" sz="1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52" name="Google Shape;552;p25"/>
            <p:cNvSpPr txBox="1"/>
            <p:nvPr/>
          </p:nvSpPr>
          <p:spPr>
            <a:xfrm>
              <a:off x="11001375" y="2035302"/>
              <a:ext cx="57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check_box_outline_blank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53" name="Google Shape;553;p25"/>
          <p:cNvGrpSpPr/>
          <p:nvPr/>
        </p:nvGrpSpPr>
        <p:grpSpPr>
          <a:xfrm>
            <a:off x="476250" y="2952750"/>
            <a:ext cx="5429400" cy="797052"/>
            <a:chOff x="476250" y="2952750"/>
            <a:chExt cx="5429400" cy="797052"/>
          </a:xfrm>
        </p:grpSpPr>
        <p:sp>
          <p:nvSpPr>
            <p:cNvPr id="554" name="Google Shape;554;p25"/>
            <p:cNvSpPr/>
            <p:nvPr/>
          </p:nvSpPr>
          <p:spPr>
            <a:xfrm>
              <a:off x="476250" y="2952750"/>
              <a:ext cx="54294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5"/>
            <p:cNvSpPr/>
            <p:nvPr/>
          </p:nvSpPr>
          <p:spPr>
            <a:xfrm>
              <a:off x="476250" y="2952750"/>
              <a:ext cx="76200" cy="7620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5"/>
            <p:cNvSpPr txBox="1"/>
            <p:nvPr/>
          </p:nvSpPr>
          <p:spPr>
            <a:xfrm>
              <a:off x="714375" y="2952750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tests run</a:t>
              </a:r>
              <a:endParaRPr b="1" sz="1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57" name="Google Shape;557;p25"/>
            <p:cNvSpPr txBox="1"/>
            <p:nvPr/>
          </p:nvSpPr>
          <p:spPr>
            <a:xfrm>
              <a:off x="5191125" y="2987802"/>
              <a:ext cx="57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check_box_outline_blank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58" name="Google Shape;558;p25"/>
          <p:cNvGrpSpPr/>
          <p:nvPr/>
        </p:nvGrpSpPr>
        <p:grpSpPr>
          <a:xfrm>
            <a:off x="6286500" y="2952750"/>
            <a:ext cx="5429400" cy="797052"/>
            <a:chOff x="6286500" y="2952750"/>
            <a:chExt cx="5429400" cy="797052"/>
          </a:xfrm>
        </p:grpSpPr>
        <p:sp>
          <p:nvSpPr>
            <p:cNvPr id="559" name="Google Shape;559;p25"/>
            <p:cNvSpPr/>
            <p:nvPr/>
          </p:nvSpPr>
          <p:spPr>
            <a:xfrm>
              <a:off x="6286500" y="2952750"/>
              <a:ext cx="54294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5"/>
            <p:cNvSpPr/>
            <p:nvPr/>
          </p:nvSpPr>
          <p:spPr>
            <a:xfrm>
              <a:off x="6286500" y="2952750"/>
              <a:ext cx="76200" cy="7620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5"/>
            <p:cNvSpPr txBox="1"/>
            <p:nvPr/>
          </p:nvSpPr>
          <p:spPr>
            <a:xfrm>
              <a:off x="6524625" y="2952750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bugs triaged</a:t>
              </a:r>
              <a:endParaRPr b="1" sz="1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62" name="Google Shape;562;p25"/>
            <p:cNvSpPr txBox="1"/>
            <p:nvPr/>
          </p:nvSpPr>
          <p:spPr>
            <a:xfrm>
              <a:off x="11001375" y="2987802"/>
              <a:ext cx="57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check_box_outline_blank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63" name="Google Shape;563;p25"/>
          <p:cNvGrpSpPr/>
          <p:nvPr/>
        </p:nvGrpSpPr>
        <p:grpSpPr>
          <a:xfrm>
            <a:off x="476250" y="3905250"/>
            <a:ext cx="5429400" cy="797052"/>
            <a:chOff x="476250" y="3905250"/>
            <a:chExt cx="5429400" cy="797052"/>
          </a:xfrm>
        </p:grpSpPr>
        <p:sp>
          <p:nvSpPr>
            <p:cNvPr id="564" name="Google Shape;564;p25"/>
            <p:cNvSpPr/>
            <p:nvPr/>
          </p:nvSpPr>
          <p:spPr>
            <a:xfrm>
              <a:off x="476250" y="3905250"/>
              <a:ext cx="54294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5"/>
            <p:cNvSpPr/>
            <p:nvPr/>
          </p:nvSpPr>
          <p:spPr>
            <a:xfrm>
              <a:off x="476250" y="3905250"/>
              <a:ext cx="76200" cy="7620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5"/>
            <p:cNvSpPr txBox="1"/>
            <p:nvPr/>
          </p:nvSpPr>
          <p:spPr>
            <a:xfrm>
              <a:off x="714375" y="3905250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P0/P1 Issues created</a:t>
              </a:r>
              <a:endParaRPr b="1" sz="1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67" name="Google Shape;567;p25"/>
            <p:cNvSpPr txBox="1"/>
            <p:nvPr/>
          </p:nvSpPr>
          <p:spPr>
            <a:xfrm>
              <a:off x="5191125" y="3940302"/>
              <a:ext cx="57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check_box_outline_blank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68" name="Google Shape;568;p25"/>
          <p:cNvGrpSpPr/>
          <p:nvPr/>
        </p:nvGrpSpPr>
        <p:grpSpPr>
          <a:xfrm>
            <a:off x="6286500" y="3905250"/>
            <a:ext cx="5429400" cy="797052"/>
            <a:chOff x="6286500" y="3905250"/>
            <a:chExt cx="5429400" cy="797052"/>
          </a:xfrm>
        </p:grpSpPr>
        <p:sp>
          <p:nvSpPr>
            <p:cNvPr id="569" name="Google Shape;569;p25"/>
            <p:cNvSpPr/>
            <p:nvPr/>
          </p:nvSpPr>
          <p:spPr>
            <a:xfrm>
              <a:off x="6286500" y="3905250"/>
              <a:ext cx="54294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5"/>
            <p:cNvSpPr/>
            <p:nvPr/>
          </p:nvSpPr>
          <p:spPr>
            <a:xfrm>
              <a:off x="6286500" y="3905250"/>
              <a:ext cx="76200" cy="7620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5"/>
            <p:cNvSpPr txBox="1"/>
            <p:nvPr/>
          </p:nvSpPr>
          <p:spPr>
            <a:xfrm>
              <a:off x="6524625" y="3905250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board updated</a:t>
              </a:r>
              <a:endParaRPr b="1" sz="1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72" name="Google Shape;572;p25"/>
            <p:cNvSpPr txBox="1"/>
            <p:nvPr/>
          </p:nvSpPr>
          <p:spPr>
            <a:xfrm>
              <a:off x="11001375" y="3940302"/>
              <a:ext cx="57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check_box_outline_blank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73" name="Google Shape;573;p25"/>
          <p:cNvGrpSpPr/>
          <p:nvPr/>
        </p:nvGrpSpPr>
        <p:grpSpPr>
          <a:xfrm>
            <a:off x="476250" y="4857750"/>
            <a:ext cx="5429400" cy="797052"/>
            <a:chOff x="476250" y="4857750"/>
            <a:chExt cx="5429400" cy="797052"/>
          </a:xfrm>
        </p:grpSpPr>
        <p:sp>
          <p:nvSpPr>
            <p:cNvPr id="574" name="Google Shape;574;p25"/>
            <p:cNvSpPr/>
            <p:nvPr/>
          </p:nvSpPr>
          <p:spPr>
            <a:xfrm>
              <a:off x="476250" y="4857750"/>
              <a:ext cx="54294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5"/>
            <p:cNvSpPr/>
            <p:nvPr/>
          </p:nvSpPr>
          <p:spPr>
            <a:xfrm>
              <a:off x="476250" y="4857750"/>
              <a:ext cx="76200" cy="7620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5"/>
            <p:cNvSpPr txBox="1"/>
            <p:nvPr/>
          </p:nvSpPr>
          <p:spPr>
            <a:xfrm>
              <a:off x="714375" y="4857750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Friday packet started</a:t>
              </a:r>
              <a:endParaRPr b="1" sz="1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77" name="Google Shape;577;p25"/>
            <p:cNvSpPr txBox="1"/>
            <p:nvPr/>
          </p:nvSpPr>
          <p:spPr>
            <a:xfrm>
              <a:off x="5191125" y="4892802"/>
              <a:ext cx="57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check_box_outline_blank</a:t>
              </a:r>
              <a:endParaRPr sz="2400">
                <a:solidFill>
                  <a:srgbClr val="16A3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578" name="Google Shape;578;p25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23/28</a:t>
            </a:r>
            <a:endParaRPr b="0"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"/>
          <p:cNvSpPr/>
          <p:nvPr/>
        </p:nvSpPr>
        <p:spPr>
          <a:xfrm>
            <a:off x="476250" y="381000"/>
            <a:ext cx="10698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Closing</a:t>
            </a:r>
            <a:endParaRPr b="1" sz="3600">
              <a:solidFill>
                <a:srgbClr val="F8FAFC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585" name="Google Shape;585;p26"/>
          <p:cNvCxnSpPr/>
          <p:nvPr/>
        </p:nvCxnSpPr>
        <p:spPr>
          <a:xfrm rot="10800000">
            <a:off x="1428750" y="47625"/>
            <a:ext cx="0" cy="19050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6" name="Google Shape;586;p26"/>
          <p:cNvGrpSpPr/>
          <p:nvPr/>
        </p:nvGrpSpPr>
        <p:grpSpPr>
          <a:xfrm>
            <a:off x="476250" y="1524000"/>
            <a:ext cx="5238900" cy="3619500"/>
            <a:chOff x="476250" y="1524000"/>
            <a:chExt cx="5238900" cy="3619500"/>
          </a:xfrm>
        </p:grpSpPr>
        <p:sp>
          <p:nvSpPr>
            <p:cNvPr id="587" name="Google Shape;587;p26"/>
            <p:cNvSpPr/>
            <p:nvPr/>
          </p:nvSpPr>
          <p:spPr>
            <a:xfrm>
              <a:off x="476250" y="1524000"/>
              <a:ext cx="52389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476250" y="1524000"/>
              <a:ext cx="76200" cy="9525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6"/>
            <p:cNvSpPr txBox="1"/>
            <p:nvPr/>
          </p:nvSpPr>
          <p:spPr>
            <a:xfrm>
              <a:off x="762000" y="1524000"/>
              <a:ext cx="457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 </a:t>
              </a:r>
              <a:r>
                <a:rPr b="1" lang="en-US" sz="1800">
                  <a:solidFill>
                    <a:srgbClr val="10B981"/>
                  </a:solidFill>
                  <a:latin typeface="Play"/>
                  <a:ea typeface="Play"/>
                  <a:cs typeface="Play"/>
                  <a:sym typeface="Play"/>
                </a:rPr>
                <a:t>visible</a:t>
              </a: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 bug is useful.</a:t>
              </a:r>
              <a:endParaRPr b="1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476250" y="2667000"/>
              <a:ext cx="52389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6"/>
            <p:cNvSpPr/>
            <p:nvPr/>
          </p:nvSpPr>
          <p:spPr>
            <a:xfrm>
              <a:off x="476250" y="2667000"/>
              <a:ext cx="76200" cy="9525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6"/>
            <p:cNvSpPr txBox="1"/>
            <p:nvPr/>
          </p:nvSpPr>
          <p:spPr>
            <a:xfrm>
              <a:off x="762000" y="2667000"/>
              <a:ext cx="457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 </a:t>
              </a:r>
              <a:r>
                <a:rPr b="1" lang="en-US" sz="1800">
                  <a:solidFill>
                    <a:srgbClr val="EF4444"/>
                  </a:solidFill>
                  <a:latin typeface="Play"/>
                  <a:ea typeface="Play"/>
                  <a:cs typeface="Play"/>
                  <a:sym typeface="Play"/>
                </a:rPr>
                <a:t>hidden</a:t>
              </a: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 bug is dangerous.</a:t>
              </a:r>
              <a:endParaRPr b="1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93" name="Google Shape;593;p26"/>
            <p:cNvSpPr/>
            <p:nvPr/>
          </p:nvSpPr>
          <p:spPr>
            <a:xfrm>
              <a:off x="476250" y="3810000"/>
              <a:ext cx="52389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6"/>
            <p:cNvSpPr/>
            <p:nvPr/>
          </p:nvSpPr>
          <p:spPr>
            <a:xfrm>
              <a:off x="476250" y="3810000"/>
              <a:ext cx="76200" cy="13335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6"/>
            <p:cNvSpPr txBox="1"/>
            <p:nvPr/>
          </p:nvSpPr>
          <p:spPr>
            <a:xfrm>
              <a:off x="762000" y="3810000"/>
              <a:ext cx="4572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 </a:t>
              </a:r>
              <a:r>
                <a:rPr b="1" lang="en-US" sz="1800">
                  <a:solidFill>
                    <a:srgbClr val="F59E0B"/>
                  </a:solidFill>
                  <a:latin typeface="Play"/>
                  <a:ea typeface="Play"/>
                  <a:cs typeface="Play"/>
                  <a:sym typeface="Play"/>
                </a:rPr>
                <a:t>vague</a:t>
              </a:r>
              <a:r>
                <a:rPr b="1" lang="en-US" sz="18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 bug is homework goblin behavior.</a:t>
              </a:r>
              <a:endParaRPr b="1" sz="18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96" name="Google Shape;596;p26"/>
          <p:cNvSpPr txBox="1"/>
          <p:nvPr/>
        </p:nvSpPr>
        <p:spPr>
          <a:xfrm>
            <a:off x="476250" y="5524500"/>
            <a:ext cx="5238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Fix the goblins.</a:t>
            </a:r>
            <a:endParaRPr b="1" sz="2400">
              <a:solidFill>
                <a:srgbClr val="F59E0B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597" name="Google Shape;597;p26"/>
          <p:cNvPicPr preferRelativeResize="0"/>
          <p:nvPr/>
        </p:nvPicPr>
        <p:blipFill rotWithShape="1">
          <a:blip r:embed="rId4">
            <a:alphaModFix/>
          </a:blip>
          <a:srcRect b="0" l="17359" r="17359" t="0"/>
          <a:stretch/>
        </p:blipFill>
        <p:spPr>
          <a:xfrm>
            <a:off x="6191250" y="1333500"/>
            <a:ext cx="5524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6"/>
          <p:cNvSpPr/>
          <p:nvPr/>
        </p:nvSpPr>
        <p:spPr>
          <a:xfrm>
            <a:off x="6191250" y="1333500"/>
            <a:ext cx="55245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6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94A3B8"/>
                </a:solidFill>
                <a:latin typeface="Play"/>
                <a:ea typeface="Play"/>
                <a:cs typeface="Play"/>
                <a:sym typeface="Play"/>
              </a:rPr>
              <a:t>Week 12 QA Day / 24/28</a:t>
            </a:r>
            <a:endParaRPr sz="750">
              <a:solidFill>
                <a:srgbClr val="94A3B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7"/>
          <p:cNvSpPr/>
          <p:nvPr/>
        </p:nvSpPr>
        <p:spPr>
          <a:xfrm>
            <a:off x="502920" y="292608"/>
            <a:ext cx="1069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Friday Submission Checklist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p27"/>
          <p:cNvCxnSpPr/>
          <p:nvPr/>
        </p:nvCxnSpPr>
        <p:spPr>
          <a:xfrm>
            <a:off x="502920" y="932688"/>
            <a:ext cx="192030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7" name="Google Shape;607;p27"/>
          <p:cNvGrpSpPr/>
          <p:nvPr/>
        </p:nvGrpSpPr>
        <p:grpSpPr>
          <a:xfrm>
            <a:off x="502920" y="1238250"/>
            <a:ext cx="5048400" cy="666900"/>
            <a:chOff x="502920" y="1238250"/>
            <a:chExt cx="5048400" cy="666900"/>
          </a:xfrm>
        </p:grpSpPr>
        <p:sp>
          <p:nvSpPr>
            <p:cNvPr id="608" name="Google Shape;608;p27"/>
            <p:cNvSpPr/>
            <p:nvPr/>
          </p:nvSpPr>
          <p:spPr>
            <a:xfrm>
              <a:off x="502920" y="1238250"/>
              <a:ext cx="50484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502920" y="1238250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7"/>
            <p:cNvSpPr txBox="1"/>
            <p:nvPr/>
          </p:nvSpPr>
          <p:spPr>
            <a:xfrm>
              <a:off x="762000" y="1238250"/>
              <a:ext cx="4572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Weekly Progress Demo evidence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611" name="Google Shape;611;p27"/>
          <p:cNvGrpSpPr/>
          <p:nvPr/>
        </p:nvGrpSpPr>
        <p:grpSpPr>
          <a:xfrm>
            <a:off x="502920" y="2047875"/>
            <a:ext cx="5048400" cy="666900"/>
            <a:chOff x="502920" y="2047875"/>
            <a:chExt cx="5048400" cy="666900"/>
          </a:xfrm>
        </p:grpSpPr>
        <p:sp>
          <p:nvSpPr>
            <p:cNvPr id="612" name="Google Shape;612;p27"/>
            <p:cNvSpPr/>
            <p:nvPr/>
          </p:nvSpPr>
          <p:spPr>
            <a:xfrm>
              <a:off x="502920" y="2047875"/>
              <a:ext cx="50484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502920" y="2047875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7"/>
            <p:cNvSpPr txBox="1"/>
            <p:nvPr/>
          </p:nvSpPr>
          <p:spPr>
            <a:xfrm>
              <a:off x="762000" y="2047875"/>
              <a:ext cx="4572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QA checklist link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615" name="Google Shape;615;p27"/>
          <p:cNvGrpSpPr/>
          <p:nvPr/>
        </p:nvGrpSpPr>
        <p:grpSpPr>
          <a:xfrm>
            <a:off x="502920" y="2857500"/>
            <a:ext cx="5048400" cy="666900"/>
            <a:chOff x="502920" y="2857500"/>
            <a:chExt cx="5048400" cy="666900"/>
          </a:xfrm>
        </p:grpSpPr>
        <p:sp>
          <p:nvSpPr>
            <p:cNvPr id="616" name="Google Shape;616;p27"/>
            <p:cNvSpPr/>
            <p:nvPr/>
          </p:nvSpPr>
          <p:spPr>
            <a:xfrm>
              <a:off x="502920" y="2857500"/>
              <a:ext cx="50484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502920" y="2857500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7"/>
            <p:cNvSpPr txBox="1"/>
            <p:nvPr/>
          </p:nvSpPr>
          <p:spPr>
            <a:xfrm>
              <a:off x="762000" y="2857500"/>
              <a:ext cx="4572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bug severity list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619" name="Google Shape;619;p27"/>
          <p:cNvGrpSpPr/>
          <p:nvPr/>
        </p:nvGrpSpPr>
        <p:grpSpPr>
          <a:xfrm>
            <a:off x="502920" y="3667125"/>
            <a:ext cx="5048400" cy="666900"/>
            <a:chOff x="502920" y="3667125"/>
            <a:chExt cx="5048400" cy="666900"/>
          </a:xfrm>
        </p:grpSpPr>
        <p:sp>
          <p:nvSpPr>
            <p:cNvPr id="620" name="Google Shape;620;p27"/>
            <p:cNvSpPr/>
            <p:nvPr/>
          </p:nvSpPr>
          <p:spPr>
            <a:xfrm>
              <a:off x="502920" y="3667125"/>
              <a:ext cx="50484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502920" y="3667125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7"/>
            <p:cNvSpPr txBox="1"/>
            <p:nvPr/>
          </p:nvSpPr>
          <p:spPr>
            <a:xfrm>
              <a:off x="762000" y="3667125"/>
              <a:ext cx="4572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board snapshot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623" name="Google Shape;623;p27"/>
          <p:cNvGrpSpPr/>
          <p:nvPr/>
        </p:nvGrpSpPr>
        <p:grpSpPr>
          <a:xfrm>
            <a:off x="5810250" y="1238250"/>
            <a:ext cx="5048400" cy="666900"/>
            <a:chOff x="5810250" y="1238250"/>
            <a:chExt cx="5048400" cy="666900"/>
          </a:xfrm>
        </p:grpSpPr>
        <p:sp>
          <p:nvSpPr>
            <p:cNvPr id="624" name="Google Shape;624;p27"/>
            <p:cNvSpPr/>
            <p:nvPr/>
          </p:nvSpPr>
          <p:spPr>
            <a:xfrm>
              <a:off x="5810250" y="1238250"/>
              <a:ext cx="50484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5810250" y="1238250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7"/>
            <p:cNvSpPr txBox="1"/>
            <p:nvPr/>
          </p:nvSpPr>
          <p:spPr>
            <a:xfrm>
              <a:off x="6069330" y="1238250"/>
              <a:ext cx="4572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testing evidence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27" name="Google Shape;627;p27"/>
          <p:cNvSpPr/>
          <p:nvPr/>
        </p:nvSpPr>
        <p:spPr>
          <a:xfrm>
            <a:off x="411480" y="649224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Week 12 QA Day / 28/28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8" name="Google Shape;628;p27"/>
          <p:cNvGrpSpPr/>
          <p:nvPr/>
        </p:nvGrpSpPr>
        <p:grpSpPr>
          <a:xfrm>
            <a:off x="5810250" y="2047875"/>
            <a:ext cx="5048400" cy="666900"/>
            <a:chOff x="5810250" y="2047875"/>
            <a:chExt cx="5048400" cy="666900"/>
          </a:xfrm>
        </p:grpSpPr>
        <p:sp>
          <p:nvSpPr>
            <p:cNvPr id="629" name="Google Shape;629;p27"/>
            <p:cNvSpPr/>
            <p:nvPr/>
          </p:nvSpPr>
          <p:spPr>
            <a:xfrm>
              <a:off x="5810250" y="2047875"/>
              <a:ext cx="50484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5810250" y="2047875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7"/>
            <p:cNvSpPr txBox="1"/>
            <p:nvPr/>
          </p:nvSpPr>
          <p:spPr>
            <a:xfrm>
              <a:off x="6069330" y="2047875"/>
              <a:ext cx="4572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AI Use + Code Ownership Check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632" name="Google Shape;632;p27"/>
          <p:cNvGrpSpPr/>
          <p:nvPr/>
        </p:nvGrpSpPr>
        <p:grpSpPr>
          <a:xfrm>
            <a:off x="5810250" y="2857500"/>
            <a:ext cx="5048400" cy="666900"/>
            <a:chOff x="5810250" y="2857500"/>
            <a:chExt cx="5048400" cy="666900"/>
          </a:xfrm>
        </p:grpSpPr>
        <p:sp>
          <p:nvSpPr>
            <p:cNvPr id="633" name="Google Shape;633;p27"/>
            <p:cNvSpPr/>
            <p:nvPr/>
          </p:nvSpPr>
          <p:spPr>
            <a:xfrm>
              <a:off x="5810250" y="2857500"/>
              <a:ext cx="5048400" cy="666900"/>
            </a:xfrm>
            <a:prstGeom prst="roundRect">
              <a:avLst>
                <a:gd fmla="val 17142" name="adj"/>
              </a:avLst>
            </a:prstGeom>
            <a:solidFill>
              <a:srgbClr val="1E293B"/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5810250" y="2857500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7"/>
            <p:cNvSpPr txBox="1"/>
            <p:nvPr/>
          </p:nvSpPr>
          <p:spPr>
            <a:xfrm>
              <a:off x="6069330" y="2857500"/>
              <a:ext cx="4572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Play"/>
                  <a:ea typeface="Play"/>
                  <a:cs typeface="Play"/>
                  <a:sym typeface="Play"/>
                </a:rPr>
                <a:t>individual receipts</a:t>
              </a:r>
              <a:endParaRPr b="1" sz="14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636" name="Google Shape;636;p27"/>
          <p:cNvSpPr txBox="1"/>
          <p:nvPr/>
        </p:nvSpPr>
        <p:spPr>
          <a:xfrm>
            <a:off x="502920" y="857250"/>
            <a:ext cx="10698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59E0B"/>
                </a:solidFill>
                <a:latin typeface="Play"/>
                <a:ea typeface="Play"/>
                <a:cs typeface="Play"/>
                <a:sym typeface="Play"/>
              </a:rPr>
              <a:t>Friday Sprint Packet must include:</a:t>
            </a:r>
            <a:endParaRPr b="1" sz="1600">
              <a:solidFill>
                <a:srgbClr val="F59E0B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637" name="Google Shape;637;p27"/>
          <p:cNvGrpSpPr/>
          <p:nvPr/>
        </p:nvGrpSpPr>
        <p:grpSpPr>
          <a:xfrm>
            <a:off x="5810250" y="3667125"/>
            <a:ext cx="5048400" cy="1476300"/>
            <a:chOff x="5810250" y="3667125"/>
            <a:chExt cx="5048400" cy="1476300"/>
          </a:xfrm>
        </p:grpSpPr>
        <p:pic>
          <p:nvPicPr>
            <p:cNvPr descr="A futuristic, high-tech digital interface showing a checklist of code parameters being validated, with glowing green accents and a dark blue background, professional software engineering aesthetic." id="638" name="Google Shape;638;p27"/>
            <p:cNvPicPr preferRelativeResize="0"/>
            <p:nvPr/>
          </p:nvPicPr>
          <p:blipFill rotWithShape="1">
            <a:blip r:embed="rId3">
              <a:alphaModFix/>
            </a:blip>
            <a:srcRect b="24004" l="0" r="0" t="24004"/>
            <a:stretch/>
          </p:blipFill>
          <p:spPr>
            <a:xfrm>
              <a:off x="5810250" y="3667125"/>
              <a:ext cx="5048400" cy="1476300"/>
            </a:xfrm>
            <a:prstGeom prst="roundRect">
              <a:avLst>
                <a:gd fmla="val 7741" name="adj"/>
              </a:avLst>
            </a:prstGeom>
            <a:noFill/>
            <a:ln>
              <a:noFill/>
            </a:ln>
          </p:spPr>
        </p:pic>
        <p:sp>
          <p:nvSpPr>
            <p:cNvPr id="639" name="Google Shape;639;p27"/>
            <p:cNvSpPr/>
            <p:nvPr/>
          </p:nvSpPr>
          <p:spPr>
            <a:xfrm>
              <a:off x="5810250" y="3667125"/>
              <a:ext cx="5048400" cy="1476300"/>
            </a:xfrm>
            <a:prstGeom prst="roundRect">
              <a:avLst>
                <a:gd fmla="val 7741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